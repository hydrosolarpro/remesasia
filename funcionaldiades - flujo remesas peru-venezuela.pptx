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83" r:id="rId4"/>
    <p:sldId id="261" r:id="rId5"/>
    <p:sldId id="256" r:id="rId6"/>
    <p:sldId id="276" r:id="rId7"/>
    <p:sldId id="259" r:id="rId8"/>
    <p:sldId id="285" r:id="rId9"/>
    <p:sldId id="262" r:id="rId10"/>
    <p:sldId id="265" r:id="rId11"/>
    <p:sldId id="264" r:id="rId12"/>
    <p:sldId id="258" r:id="rId13"/>
    <p:sldId id="263" r:id="rId14"/>
    <p:sldId id="266" r:id="rId15"/>
    <p:sldId id="286" r:id="rId16"/>
    <p:sldId id="282" r:id="rId17"/>
    <p:sldId id="268" r:id="rId18"/>
    <p:sldId id="272" r:id="rId19"/>
    <p:sldId id="269" r:id="rId20"/>
    <p:sldId id="274" r:id="rId21"/>
    <p:sldId id="289" r:id="rId22"/>
    <p:sldId id="290" r:id="rId23"/>
    <p:sldId id="277" r:id="rId24"/>
    <p:sldId id="273" r:id="rId25"/>
    <p:sldId id="271" r:id="rId26"/>
    <p:sldId id="287" r:id="rId27"/>
    <p:sldId id="288" r:id="rId28"/>
    <p:sldId id="278" r:id="rId29"/>
    <p:sldId id="270" r:id="rId30"/>
    <p:sldId id="279" r:id="rId31"/>
    <p:sldId id="293" r:id="rId32"/>
    <p:sldId id="292" r:id="rId33"/>
    <p:sldId id="280" r:id="rId34"/>
    <p:sldId id="294" r:id="rId35"/>
    <p:sldId id="296" r:id="rId36"/>
    <p:sldId id="295" r:id="rId37"/>
    <p:sldId id="291" r:id="rId38"/>
    <p:sldId id="298" r:id="rId39"/>
    <p:sldId id="299" r:id="rId40"/>
    <p:sldId id="300" r:id="rId4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0" d="100"/>
          <a:sy n="60" d="100"/>
        </p:scale>
        <p:origin x="114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7BEB3D-1AD6-32AA-F9B3-22C93745936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CC0853F-6748-3791-7F87-E139E88399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72F94253-BDBE-E538-AC5B-FF80282D81A6}"/>
              </a:ext>
            </a:extLst>
          </p:cNvPr>
          <p:cNvSpPr>
            <a:spLocks noGrp="1"/>
          </p:cNvSpPr>
          <p:nvPr>
            <p:ph type="dt" sz="half" idx="10"/>
          </p:nvPr>
        </p:nvSpPr>
        <p:spPr/>
        <p:txBody>
          <a:bodyPr/>
          <a:lstStyle/>
          <a:p>
            <a:fld id="{28F033A4-732D-48A8-9A94-C6488E65DED6}" type="datetimeFigureOut">
              <a:rPr lang="es-MX" smtClean="0"/>
              <a:t>23/08/2026</a:t>
            </a:fld>
            <a:endParaRPr lang="es-MX"/>
          </a:p>
        </p:txBody>
      </p:sp>
      <p:sp>
        <p:nvSpPr>
          <p:cNvPr id="5" name="Marcador de pie de página 4">
            <a:extLst>
              <a:ext uri="{FF2B5EF4-FFF2-40B4-BE49-F238E27FC236}">
                <a16:creationId xmlns:a16="http://schemas.microsoft.com/office/drawing/2014/main" id="{75A57A67-43D5-6DB8-F4A6-5410BACA83A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E0BBD59-6584-1A55-5221-5ACFF8ED25C7}"/>
              </a:ext>
            </a:extLst>
          </p:cNvPr>
          <p:cNvSpPr>
            <a:spLocks noGrp="1"/>
          </p:cNvSpPr>
          <p:nvPr>
            <p:ph type="sldNum" sz="quarter" idx="12"/>
          </p:nvPr>
        </p:nvSpPr>
        <p:spPr/>
        <p:txBody>
          <a:bodyPr/>
          <a:lstStyle/>
          <a:p>
            <a:fld id="{29C28C25-19DA-4929-8C22-E1CF71FA933F}" type="slidenum">
              <a:rPr lang="es-MX" smtClean="0"/>
              <a:t>‹Nº›</a:t>
            </a:fld>
            <a:endParaRPr lang="es-MX"/>
          </a:p>
        </p:txBody>
      </p:sp>
    </p:spTree>
    <p:extLst>
      <p:ext uri="{BB962C8B-B14F-4D97-AF65-F5344CB8AC3E}">
        <p14:creationId xmlns:p14="http://schemas.microsoft.com/office/powerpoint/2010/main" val="630971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7FE972-A28F-D0A8-1BCF-0F9ACAEBE20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29339A1-5A3F-D618-3679-7774A1D7B84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43A3182-D82B-53CC-DFD0-6FA50B65F166}"/>
              </a:ext>
            </a:extLst>
          </p:cNvPr>
          <p:cNvSpPr>
            <a:spLocks noGrp="1"/>
          </p:cNvSpPr>
          <p:nvPr>
            <p:ph type="dt" sz="half" idx="10"/>
          </p:nvPr>
        </p:nvSpPr>
        <p:spPr/>
        <p:txBody>
          <a:bodyPr/>
          <a:lstStyle/>
          <a:p>
            <a:fld id="{28F033A4-732D-48A8-9A94-C6488E65DED6}" type="datetimeFigureOut">
              <a:rPr lang="es-MX" smtClean="0"/>
              <a:t>23/08/2026</a:t>
            </a:fld>
            <a:endParaRPr lang="es-MX"/>
          </a:p>
        </p:txBody>
      </p:sp>
      <p:sp>
        <p:nvSpPr>
          <p:cNvPr id="5" name="Marcador de pie de página 4">
            <a:extLst>
              <a:ext uri="{FF2B5EF4-FFF2-40B4-BE49-F238E27FC236}">
                <a16:creationId xmlns:a16="http://schemas.microsoft.com/office/drawing/2014/main" id="{92DEC59D-9C22-1630-8DB1-1810A6124AD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E4AF7AF-A3DB-DE2F-35E5-E78CB0C85DCE}"/>
              </a:ext>
            </a:extLst>
          </p:cNvPr>
          <p:cNvSpPr>
            <a:spLocks noGrp="1"/>
          </p:cNvSpPr>
          <p:nvPr>
            <p:ph type="sldNum" sz="quarter" idx="12"/>
          </p:nvPr>
        </p:nvSpPr>
        <p:spPr/>
        <p:txBody>
          <a:bodyPr/>
          <a:lstStyle/>
          <a:p>
            <a:fld id="{29C28C25-19DA-4929-8C22-E1CF71FA933F}" type="slidenum">
              <a:rPr lang="es-MX" smtClean="0"/>
              <a:t>‹Nº›</a:t>
            </a:fld>
            <a:endParaRPr lang="es-MX"/>
          </a:p>
        </p:txBody>
      </p:sp>
    </p:spTree>
    <p:extLst>
      <p:ext uri="{BB962C8B-B14F-4D97-AF65-F5344CB8AC3E}">
        <p14:creationId xmlns:p14="http://schemas.microsoft.com/office/powerpoint/2010/main" val="2416449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5B2A9D-BB5D-D637-D07F-EC380EB737F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7EDEF19-ABD4-EF4D-3041-B76998B777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8D01493-635A-66C3-6578-D562CD2BE5D2}"/>
              </a:ext>
            </a:extLst>
          </p:cNvPr>
          <p:cNvSpPr>
            <a:spLocks noGrp="1"/>
          </p:cNvSpPr>
          <p:nvPr>
            <p:ph type="dt" sz="half" idx="10"/>
          </p:nvPr>
        </p:nvSpPr>
        <p:spPr/>
        <p:txBody>
          <a:bodyPr/>
          <a:lstStyle/>
          <a:p>
            <a:fld id="{28F033A4-732D-48A8-9A94-C6488E65DED6}" type="datetimeFigureOut">
              <a:rPr lang="es-MX" smtClean="0"/>
              <a:t>23/08/2026</a:t>
            </a:fld>
            <a:endParaRPr lang="es-MX"/>
          </a:p>
        </p:txBody>
      </p:sp>
      <p:sp>
        <p:nvSpPr>
          <p:cNvPr id="5" name="Marcador de pie de página 4">
            <a:extLst>
              <a:ext uri="{FF2B5EF4-FFF2-40B4-BE49-F238E27FC236}">
                <a16:creationId xmlns:a16="http://schemas.microsoft.com/office/drawing/2014/main" id="{C34CE1E0-8C68-A2B4-B0CF-93831BA7531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DC865E6-9627-A221-2F27-8E315C86731F}"/>
              </a:ext>
            </a:extLst>
          </p:cNvPr>
          <p:cNvSpPr>
            <a:spLocks noGrp="1"/>
          </p:cNvSpPr>
          <p:nvPr>
            <p:ph type="sldNum" sz="quarter" idx="12"/>
          </p:nvPr>
        </p:nvSpPr>
        <p:spPr/>
        <p:txBody>
          <a:bodyPr/>
          <a:lstStyle/>
          <a:p>
            <a:fld id="{29C28C25-19DA-4929-8C22-E1CF71FA933F}" type="slidenum">
              <a:rPr lang="es-MX" smtClean="0"/>
              <a:t>‹Nº›</a:t>
            </a:fld>
            <a:endParaRPr lang="es-MX"/>
          </a:p>
        </p:txBody>
      </p:sp>
    </p:spTree>
    <p:extLst>
      <p:ext uri="{BB962C8B-B14F-4D97-AF65-F5344CB8AC3E}">
        <p14:creationId xmlns:p14="http://schemas.microsoft.com/office/powerpoint/2010/main" val="2687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0ECEA4-0F9B-F2AB-6BF1-02987963F42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598B333-6617-D755-66DC-AA8C81F7CF2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A37E1E96-A367-0888-1F0E-EC8FB056A57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005AAF80-6AD5-92E7-4196-9B6A3743D398}"/>
              </a:ext>
            </a:extLst>
          </p:cNvPr>
          <p:cNvSpPr>
            <a:spLocks noGrp="1"/>
          </p:cNvSpPr>
          <p:nvPr>
            <p:ph type="dt" sz="half" idx="10"/>
          </p:nvPr>
        </p:nvSpPr>
        <p:spPr/>
        <p:txBody>
          <a:bodyPr/>
          <a:lstStyle/>
          <a:p>
            <a:fld id="{28F033A4-732D-48A8-9A94-C6488E65DED6}" type="datetimeFigureOut">
              <a:rPr lang="es-MX" smtClean="0"/>
              <a:t>23/08/2026</a:t>
            </a:fld>
            <a:endParaRPr lang="es-MX"/>
          </a:p>
        </p:txBody>
      </p:sp>
      <p:sp>
        <p:nvSpPr>
          <p:cNvPr id="6" name="Marcador de pie de página 5">
            <a:extLst>
              <a:ext uri="{FF2B5EF4-FFF2-40B4-BE49-F238E27FC236}">
                <a16:creationId xmlns:a16="http://schemas.microsoft.com/office/drawing/2014/main" id="{108C8059-E754-9AAF-0DA1-696FE179C91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EF8ECBC-0331-8FE3-FC02-83686B3F05C9}"/>
              </a:ext>
            </a:extLst>
          </p:cNvPr>
          <p:cNvSpPr>
            <a:spLocks noGrp="1"/>
          </p:cNvSpPr>
          <p:nvPr>
            <p:ph type="sldNum" sz="quarter" idx="12"/>
          </p:nvPr>
        </p:nvSpPr>
        <p:spPr/>
        <p:txBody>
          <a:bodyPr/>
          <a:lstStyle/>
          <a:p>
            <a:fld id="{29C28C25-19DA-4929-8C22-E1CF71FA933F}" type="slidenum">
              <a:rPr lang="es-MX" smtClean="0"/>
              <a:t>‹Nº›</a:t>
            </a:fld>
            <a:endParaRPr lang="es-MX"/>
          </a:p>
        </p:txBody>
      </p:sp>
    </p:spTree>
    <p:extLst>
      <p:ext uri="{BB962C8B-B14F-4D97-AF65-F5344CB8AC3E}">
        <p14:creationId xmlns:p14="http://schemas.microsoft.com/office/powerpoint/2010/main" val="2572650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50F56-4F8B-663A-73FC-ECF8BAE5378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695482B-7B44-8EAE-8BF1-2B53B993DC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BF02982-B55C-C314-0DBB-FE472333C51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D8F7F558-3750-705C-6561-B3FC31B866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263092-3904-D0D5-CABC-0CD9A7800ED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FBB73F09-3D81-C4CC-BE9A-892683A433A0}"/>
              </a:ext>
            </a:extLst>
          </p:cNvPr>
          <p:cNvSpPr>
            <a:spLocks noGrp="1"/>
          </p:cNvSpPr>
          <p:nvPr>
            <p:ph type="dt" sz="half" idx="10"/>
          </p:nvPr>
        </p:nvSpPr>
        <p:spPr/>
        <p:txBody>
          <a:bodyPr/>
          <a:lstStyle/>
          <a:p>
            <a:fld id="{28F033A4-732D-48A8-9A94-C6488E65DED6}" type="datetimeFigureOut">
              <a:rPr lang="es-MX" smtClean="0"/>
              <a:t>23/08/2026</a:t>
            </a:fld>
            <a:endParaRPr lang="es-MX"/>
          </a:p>
        </p:txBody>
      </p:sp>
      <p:sp>
        <p:nvSpPr>
          <p:cNvPr id="8" name="Marcador de pie de página 7">
            <a:extLst>
              <a:ext uri="{FF2B5EF4-FFF2-40B4-BE49-F238E27FC236}">
                <a16:creationId xmlns:a16="http://schemas.microsoft.com/office/drawing/2014/main" id="{6455F0C5-BBC3-54EB-9A0A-92371E4A7B82}"/>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2BD6EF0-2DE9-2617-2EEE-E0A634F3ED89}"/>
              </a:ext>
            </a:extLst>
          </p:cNvPr>
          <p:cNvSpPr>
            <a:spLocks noGrp="1"/>
          </p:cNvSpPr>
          <p:nvPr>
            <p:ph type="sldNum" sz="quarter" idx="12"/>
          </p:nvPr>
        </p:nvSpPr>
        <p:spPr/>
        <p:txBody>
          <a:bodyPr/>
          <a:lstStyle/>
          <a:p>
            <a:fld id="{29C28C25-19DA-4929-8C22-E1CF71FA933F}" type="slidenum">
              <a:rPr lang="es-MX" smtClean="0"/>
              <a:t>‹Nº›</a:t>
            </a:fld>
            <a:endParaRPr lang="es-MX"/>
          </a:p>
        </p:txBody>
      </p:sp>
    </p:spTree>
    <p:extLst>
      <p:ext uri="{BB962C8B-B14F-4D97-AF65-F5344CB8AC3E}">
        <p14:creationId xmlns:p14="http://schemas.microsoft.com/office/powerpoint/2010/main" val="1812014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329152-6D72-6608-A5BC-9617121E787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6A43C867-61D8-F52E-6F07-308E2D537056}"/>
              </a:ext>
            </a:extLst>
          </p:cNvPr>
          <p:cNvSpPr>
            <a:spLocks noGrp="1"/>
          </p:cNvSpPr>
          <p:nvPr>
            <p:ph type="dt" sz="half" idx="10"/>
          </p:nvPr>
        </p:nvSpPr>
        <p:spPr/>
        <p:txBody>
          <a:bodyPr/>
          <a:lstStyle/>
          <a:p>
            <a:fld id="{28F033A4-732D-48A8-9A94-C6488E65DED6}" type="datetimeFigureOut">
              <a:rPr lang="es-MX" smtClean="0"/>
              <a:t>23/08/2026</a:t>
            </a:fld>
            <a:endParaRPr lang="es-MX"/>
          </a:p>
        </p:txBody>
      </p:sp>
      <p:sp>
        <p:nvSpPr>
          <p:cNvPr id="4" name="Marcador de pie de página 3">
            <a:extLst>
              <a:ext uri="{FF2B5EF4-FFF2-40B4-BE49-F238E27FC236}">
                <a16:creationId xmlns:a16="http://schemas.microsoft.com/office/drawing/2014/main" id="{B6C4A8A5-63A2-9E7C-52AF-E21F23A777C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E14DC94-373A-3996-CB55-A8DB632A02D0}"/>
              </a:ext>
            </a:extLst>
          </p:cNvPr>
          <p:cNvSpPr>
            <a:spLocks noGrp="1"/>
          </p:cNvSpPr>
          <p:nvPr>
            <p:ph type="sldNum" sz="quarter" idx="12"/>
          </p:nvPr>
        </p:nvSpPr>
        <p:spPr/>
        <p:txBody>
          <a:bodyPr/>
          <a:lstStyle/>
          <a:p>
            <a:fld id="{29C28C25-19DA-4929-8C22-E1CF71FA933F}" type="slidenum">
              <a:rPr lang="es-MX" smtClean="0"/>
              <a:t>‹Nº›</a:t>
            </a:fld>
            <a:endParaRPr lang="es-MX"/>
          </a:p>
        </p:txBody>
      </p:sp>
    </p:spTree>
    <p:extLst>
      <p:ext uri="{BB962C8B-B14F-4D97-AF65-F5344CB8AC3E}">
        <p14:creationId xmlns:p14="http://schemas.microsoft.com/office/powerpoint/2010/main" val="2071769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8A29B2C-DF2F-0C58-A4C8-A905D5F5583B}"/>
              </a:ext>
            </a:extLst>
          </p:cNvPr>
          <p:cNvSpPr>
            <a:spLocks noGrp="1"/>
          </p:cNvSpPr>
          <p:nvPr>
            <p:ph type="dt" sz="half" idx="10"/>
          </p:nvPr>
        </p:nvSpPr>
        <p:spPr/>
        <p:txBody>
          <a:bodyPr/>
          <a:lstStyle/>
          <a:p>
            <a:fld id="{28F033A4-732D-48A8-9A94-C6488E65DED6}" type="datetimeFigureOut">
              <a:rPr lang="es-MX" smtClean="0"/>
              <a:t>23/08/2026</a:t>
            </a:fld>
            <a:endParaRPr lang="es-MX"/>
          </a:p>
        </p:txBody>
      </p:sp>
      <p:sp>
        <p:nvSpPr>
          <p:cNvPr id="3" name="Marcador de pie de página 2">
            <a:extLst>
              <a:ext uri="{FF2B5EF4-FFF2-40B4-BE49-F238E27FC236}">
                <a16:creationId xmlns:a16="http://schemas.microsoft.com/office/drawing/2014/main" id="{F8C31836-A999-2319-3EEB-72B9AAD2E75D}"/>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D11659C0-6B6C-32D0-E1B2-D56044F0151A}"/>
              </a:ext>
            </a:extLst>
          </p:cNvPr>
          <p:cNvSpPr>
            <a:spLocks noGrp="1"/>
          </p:cNvSpPr>
          <p:nvPr>
            <p:ph type="sldNum" sz="quarter" idx="12"/>
          </p:nvPr>
        </p:nvSpPr>
        <p:spPr/>
        <p:txBody>
          <a:bodyPr/>
          <a:lstStyle/>
          <a:p>
            <a:fld id="{29C28C25-19DA-4929-8C22-E1CF71FA933F}" type="slidenum">
              <a:rPr lang="es-MX" smtClean="0"/>
              <a:t>‹Nº›</a:t>
            </a:fld>
            <a:endParaRPr lang="es-MX"/>
          </a:p>
        </p:txBody>
      </p:sp>
    </p:spTree>
    <p:extLst>
      <p:ext uri="{BB962C8B-B14F-4D97-AF65-F5344CB8AC3E}">
        <p14:creationId xmlns:p14="http://schemas.microsoft.com/office/powerpoint/2010/main" val="1438050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54B67-8822-12A6-1035-E176D201448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B077B54-C605-B8B4-18A5-742FC52ED2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04AE53A6-71DE-8CCD-CE09-30555AEA73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49BC4FB-9848-06CE-0A2D-40C1BDE62113}"/>
              </a:ext>
            </a:extLst>
          </p:cNvPr>
          <p:cNvSpPr>
            <a:spLocks noGrp="1"/>
          </p:cNvSpPr>
          <p:nvPr>
            <p:ph type="dt" sz="half" idx="10"/>
          </p:nvPr>
        </p:nvSpPr>
        <p:spPr/>
        <p:txBody>
          <a:bodyPr/>
          <a:lstStyle/>
          <a:p>
            <a:fld id="{28F033A4-732D-48A8-9A94-C6488E65DED6}" type="datetimeFigureOut">
              <a:rPr lang="es-MX" smtClean="0"/>
              <a:t>23/08/2026</a:t>
            </a:fld>
            <a:endParaRPr lang="es-MX"/>
          </a:p>
        </p:txBody>
      </p:sp>
      <p:sp>
        <p:nvSpPr>
          <p:cNvPr id="6" name="Marcador de pie de página 5">
            <a:extLst>
              <a:ext uri="{FF2B5EF4-FFF2-40B4-BE49-F238E27FC236}">
                <a16:creationId xmlns:a16="http://schemas.microsoft.com/office/drawing/2014/main" id="{38C748AA-381E-C51B-35E1-72002482061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C67EBB0-1207-4F7B-8C90-883096D74E75}"/>
              </a:ext>
            </a:extLst>
          </p:cNvPr>
          <p:cNvSpPr>
            <a:spLocks noGrp="1"/>
          </p:cNvSpPr>
          <p:nvPr>
            <p:ph type="sldNum" sz="quarter" idx="12"/>
          </p:nvPr>
        </p:nvSpPr>
        <p:spPr/>
        <p:txBody>
          <a:bodyPr/>
          <a:lstStyle/>
          <a:p>
            <a:fld id="{29C28C25-19DA-4929-8C22-E1CF71FA933F}" type="slidenum">
              <a:rPr lang="es-MX" smtClean="0"/>
              <a:t>‹Nº›</a:t>
            </a:fld>
            <a:endParaRPr lang="es-MX"/>
          </a:p>
        </p:txBody>
      </p:sp>
    </p:spTree>
    <p:extLst>
      <p:ext uri="{BB962C8B-B14F-4D97-AF65-F5344CB8AC3E}">
        <p14:creationId xmlns:p14="http://schemas.microsoft.com/office/powerpoint/2010/main" val="1511818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2DBD74-16E1-CD1F-31EC-649BE1DF6F2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16556AE5-34FB-26AF-9912-5FFE3458FF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57BB963-37B2-76B1-3C72-7F12223244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D243C3-8752-425D-99F2-30C8654381B8}"/>
              </a:ext>
            </a:extLst>
          </p:cNvPr>
          <p:cNvSpPr>
            <a:spLocks noGrp="1"/>
          </p:cNvSpPr>
          <p:nvPr>
            <p:ph type="dt" sz="half" idx="10"/>
          </p:nvPr>
        </p:nvSpPr>
        <p:spPr/>
        <p:txBody>
          <a:bodyPr/>
          <a:lstStyle/>
          <a:p>
            <a:fld id="{28F033A4-732D-48A8-9A94-C6488E65DED6}" type="datetimeFigureOut">
              <a:rPr lang="es-MX" smtClean="0"/>
              <a:t>23/08/2026</a:t>
            </a:fld>
            <a:endParaRPr lang="es-MX"/>
          </a:p>
        </p:txBody>
      </p:sp>
      <p:sp>
        <p:nvSpPr>
          <p:cNvPr id="6" name="Marcador de pie de página 5">
            <a:extLst>
              <a:ext uri="{FF2B5EF4-FFF2-40B4-BE49-F238E27FC236}">
                <a16:creationId xmlns:a16="http://schemas.microsoft.com/office/drawing/2014/main" id="{A9D25567-5DB2-2788-1B4E-6B1207EB8F1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E39E6A5-AFE7-5003-DAA4-9CA30CFE8547}"/>
              </a:ext>
            </a:extLst>
          </p:cNvPr>
          <p:cNvSpPr>
            <a:spLocks noGrp="1"/>
          </p:cNvSpPr>
          <p:nvPr>
            <p:ph type="sldNum" sz="quarter" idx="12"/>
          </p:nvPr>
        </p:nvSpPr>
        <p:spPr/>
        <p:txBody>
          <a:bodyPr/>
          <a:lstStyle/>
          <a:p>
            <a:fld id="{29C28C25-19DA-4929-8C22-E1CF71FA933F}" type="slidenum">
              <a:rPr lang="es-MX" smtClean="0"/>
              <a:t>‹Nº›</a:t>
            </a:fld>
            <a:endParaRPr lang="es-MX"/>
          </a:p>
        </p:txBody>
      </p:sp>
    </p:spTree>
    <p:extLst>
      <p:ext uri="{BB962C8B-B14F-4D97-AF65-F5344CB8AC3E}">
        <p14:creationId xmlns:p14="http://schemas.microsoft.com/office/powerpoint/2010/main" val="1016120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72461E-045A-C9B5-7D41-5F78C67236C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D3C465A-4D11-A51B-FA29-F1D246DFB08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0DEDAB7-1F73-9276-AD67-1B6BEBE3B0A7}"/>
              </a:ext>
            </a:extLst>
          </p:cNvPr>
          <p:cNvSpPr>
            <a:spLocks noGrp="1"/>
          </p:cNvSpPr>
          <p:nvPr>
            <p:ph type="dt" sz="half" idx="10"/>
          </p:nvPr>
        </p:nvSpPr>
        <p:spPr/>
        <p:txBody>
          <a:bodyPr/>
          <a:lstStyle/>
          <a:p>
            <a:fld id="{28F033A4-732D-48A8-9A94-C6488E65DED6}" type="datetimeFigureOut">
              <a:rPr lang="es-MX" smtClean="0"/>
              <a:t>23/08/2026</a:t>
            </a:fld>
            <a:endParaRPr lang="es-MX"/>
          </a:p>
        </p:txBody>
      </p:sp>
      <p:sp>
        <p:nvSpPr>
          <p:cNvPr id="5" name="Marcador de pie de página 4">
            <a:extLst>
              <a:ext uri="{FF2B5EF4-FFF2-40B4-BE49-F238E27FC236}">
                <a16:creationId xmlns:a16="http://schemas.microsoft.com/office/drawing/2014/main" id="{5AD0138E-30EA-7B66-6039-1D51AE2766A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4CAE9F0-D69A-7A4A-C4DF-27F4D838D420}"/>
              </a:ext>
            </a:extLst>
          </p:cNvPr>
          <p:cNvSpPr>
            <a:spLocks noGrp="1"/>
          </p:cNvSpPr>
          <p:nvPr>
            <p:ph type="sldNum" sz="quarter" idx="12"/>
          </p:nvPr>
        </p:nvSpPr>
        <p:spPr/>
        <p:txBody>
          <a:bodyPr/>
          <a:lstStyle/>
          <a:p>
            <a:fld id="{29C28C25-19DA-4929-8C22-E1CF71FA933F}" type="slidenum">
              <a:rPr lang="es-MX" smtClean="0"/>
              <a:t>‹Nº›</a:t>
            </a:fld>
            <a:endParaRPr lang="es-MX"/>
          </a:p>
        </p:txBody>
      </p:sp>
    </p:spTree>
    <p:extLst>
      <p:ext uri="{BB962C8B-B14F-4D97-AF65-F5344CB8AC3E}">
        <p14:creationId xmlns:p14="http://schemas.microsoft.com/office/powerpoint/2010/main" val="1469155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C130D53-67F8-F719-CE4D-1BFCCE310CF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8CA8F4C-352A-29E7-9739-003DEBE6BEC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8C0EF14-559C-F338-ABCC-AB6E762AC6C4}"/>
              </a:ext>
            </a:extLst>
          </p:cNvPr>
          <p:cNvSpPr>
            <a:spLocks noGrp="1"/>
          </p:cNvSpPr>
          <p:nvPr>
            <p:ph type="dt" sz="half" idx="10"/>
          </p:nvPr>
        </p:nvSpPr>
        <p:spPr/>
        <p:txBody>
          <a:bodyPr/>
          <a:lstStyle/>
          <a:p>
            <a:fld id="{28F033A4-732D-48A8-9A94-C6488E65DED6}" type="datetimeFigureOut">
              <a:rPr lang="es-MX" smtClean="0"/>
              <a:t>23/08/2026</a:t>
            </a:fld>
            <a:endParaRPr lang="es-MX"/>
          </a:p>
        </p:txBody>
      </p:sp>
      <p:sp>
        <p:nvSpPr>
          <p:cNvPr id="5" name="Marcador de pie de página 4">
            <a:extLst>
              <a:ext uri="{FF2B5EF4-FFF2-40B4-BE49-F238E27FC236}">
                <a16:creationId xmlns:a16="http://schemas.microsoft.com/office/drawing/2014/main" id="{6A64F573-F91E-38FF-5A31-DC014DC1EAA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06B1663-8BB9-0CBD-6F64-CB77BEFCEE4E}"/>
              </a:ext>
            </a:extLst>
          </p:cNvPr>
          <p:cNvSpPr>
            <a:spLocks noGrp="1"/>
          </p:cNvSpPr>
          <p:nvPr>
            <p:ph type="sldNum" sz="quarter" idx="12"/>
          </p:nvPr>
        </p:nvSpPr>
        <p:spPr/>
        <p:txBody>
          <a:bodyPr/>
          <a:lstStyle/>
          <a:p>
            <a:fld id="{29C28C25-19DA-4929-8C22-E1CF71FA933F}" type="slidenum">
              <a:rPr lang="es-MX" smtClean="0"/>
              <a:t>‹Nº›</a:t>
            </a:fld>
            <a:endParaRPr lang="es-MX"/>
          </a:p>
        </p:txBody>
      </p:sp>
    </p:spTree>
    <p:extLst>
      <p:ext uri="{BB962C8B-B14F-4D97-AF65-F5344CB8AC3E}">
        <p14:creationId xmlns:p14="http://schemas.microsoft.com/office/powerpoint/2010/main" val="1028499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2A7AB02-3B3D-F679-7E1F-7547B416E4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42001E5-EB8A-A8CC-4595-6F8B007AAC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BF66FDE-54AF-DD60-6137-076B7A227D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F033A4-732D-48A8-9A94-C6488E65DED6}" type="datetimeFigureOut">
              <a:rPr lang="es-MX" smtClean="0"/>
              <a:t>23/08/2026</a:t>
            </a:fld>
            <a:endParaRPr lang="es-MX"/>
          </a:p>
        </p:txBody>
      </p:sp>
      <p:sp>
        <p:nvSpPr>
          <p:cNvPr id="5" name="Marcador de pie de página 4">
            <a:extLst>
              <a:ext uri="{FF2B5EF4-FFF2-40B4-BE49-F238E27FC236}">
                <a16:creationId xmlns:a16="http://schemas.microsoft.com/office/drawing/2014/main" id="{6417DC1F-3FA4-9FDE-C4BE-F2776C397C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A672BC2-5487-E0B0-E052-D50EB8A708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C28C25-19DA-4929-8C22-E1CF71FA933F}" type="slidenum">
              <a:rPr lang="es-MX" smtClean="0"/>
              <a:t>‹Nº›</a:t>
            </a:fld>
            <a:endParaRPr lang="es-MX"/>
          </a:p>
        </p:txBody>
      </p:sp>
    </p:spTree>
    <p:extLst>
      <p:ext uri="{BB962C8B-B14F-4D97-AF65-F5344CB8AC3E}">
        <p14:creationId xmlns:p14="http://schemas.microsoft.com/office/powerpoint/2010/main" val="1383690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remesas-peru-venezuela-saas.vercel.app/"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hyperlink" Target="https://remesas-envioya.vercel.app/" TargetMode="Externa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remesas-envioya.vercel.app/" TargetMode="Externa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hyperlink" Target="https://remesas-envioya.vercel.app/" TargetMode="External"/><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remesas-envioya.vercel.app/"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hyperlink" Target="https://remesasia.vercel.app/" TargetMode="External"/><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remesasia.vercel.app/" TargetMode="External"/><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hyperlink" Target="https://remesasia.vercel.app/"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remesas-envioya.vercel.app/" TargetMode="External"/><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remesas-envioya.vercel.app/" TargetMode="Externa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remesas-envioya.vercel.app/" TargetMode="Externa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remesas-envioya.vercel.app/"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remesasia.vercel.app/" TargetMode="Externa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remesasia.vercel.app/" TargetMode="Externa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hyperlink" Target="https://remesas-envioya.vercel.app/" TargetMode="Externa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remesas-envioya.vercel.app/" TargetMode="Externa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3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9.png"/><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EC269-8A08-0C99-4F33-0529D163751A}"/>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64F2742B-8DD5-7500-8A0C-0B59266C7C0D}"/>
              </a:ext>
            </a:extLst>
          </p:cNvPr>
          <p:cNvPicPr>
            <a:picLocks noChangeAspect="1"/>
          </p:cNvPicPr>
          <p:nvPr/>
        </p:nvPicPr>
        <p:blipFill>
          <a:blip r:embed="rId2"/>
          <a:stretch>
            <a:fillRect/>
          </a:stretch>
        </p:blipFill>
        <p:spPr>
          <a:xfrm>
            <a:off x="566233" y="1323522"/>
            <a:ext cx="11059534" cy="4937002"/>
          </a:xfrm>
          <a:prstGeom prst="rect">
            <a:avLst/>
          </a:prstGeom>
        </p:spPr>
      </p:pic>
      <p:sp>
        <p:nvSpPr>
          <p:cNvPr id="9" name="CuadroTexto 8">
            <a:extLst>
              <a:ext uri="{FF2B5EF4-FFF2-40B4-BE49-F238E27FC236}">
                <a16:creationId xmlns:a16="http://schemas.microsoft.com/office/drawing/2014/main" id="{0528DEFD-0D38-C472-803C-C0573F74D30B}"/>
              </a:ext>
            </a:extLst>
          </p:cNvPr>
          <p:cNvSpPr txBox="1"/>
          <p:nvPr/>
        </p:nvSpPr>
        <p:spPr>
          <a:xfrm>
            <a:off x="371348" y="597476"/>
            <a:ext cx="11449304" cy="338554"/>
          </a:xfrm>
          <a:prstGeom prst="rect">
            <a:avLst/>
          </a:prstGeom>
          <a:noFill/>
        </p:spPr>
        <p:txBody>
          <a:bodyPr wrap="square">
            <a:spAutoFit/>
          </a:bodyPr>
          <a:lstStyle/>
          <a:p>
            <a:pPr lvl="0">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1. El </a:t>
            </a:r>
            <a:r>
              <a:rPr lang="es-MX" sz="1600" b="1" kern="100" dirty="0">
                <a:effectLst/>
                <a:latin typeface="+mn-lt"/>
                <a:ea typeface="Calibri" panose="020F0502020204030204" pitchFamily="34" charset="0"/>
                <a:cs typeface="Times New Roman" panose="02020603050405020304" pitchFamily="18" charset="0"/>
              </a:rPr>
              <a:t>ADMINISTRADO</a:t>
            </a:r>
            <a:r>
              <a:rPr lang="es-MX" sz="1600" kern="100" dirty="0">
                <a:effectLst/>
                <a:latin typeface="+mn-lt"/>
                <a:ea typeface="Calibri" panose="020F0502020204030204" pitchFamily="34" charset="0"/>
                <a:cs typeface="Times New Roman" panose="02020603050405020304" pitchFamily="18" charset="0"/>
              </a:rPr>
              <a:t>R te envía la página principal de </a:t>
            </a:r>
            <a:r>
              <a:rPr lang="es-MX" sz="1600" u="sng" kern="100" dirty="0">
                <a:solidFill>
                  <a:schemeClr val="tx1"/>
                </a:solidFill>
                <a:effectLst/>
                <a:latin typeface="+mn-lt"/>
                <a:ea typeface="Calibri" panose="020F0502020204030204" pitchFamily="34" charset="0"/>
                <a:cs typeface="Times New Roman" panose="02020603050405020304" pitchFamily="18" charset="0"/>
                <a:hlinkClick r:id="rId3"/>
              </a:rPr>
              <a:t>https://remesas-peru-venezuela-saas.vercel.app/</a:t>
            </a:r>
            <a:r>
              <a:rPr lang="es-MX" sz="1600" kern="100" dirty="0">
                <a:effectLst/>
                <a:latin typeface="+mn-lt"/>
                <a:ea typeface="Calibri" panose="020F0502020204030204" pitchFamily="34" charset="0"/>
                <a:cs typeface="Times New Roman" panose="02020603050405020304" pitchFamily="18" charset="0"/>
              </a:rPr>
              <a:t> al dueño de negocio de remesas.</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88476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F8B1A-FD0B-0EA8-57B7-7315394020A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405957D-F338-8B42-D36B-BAFD6F1D599F}"/>
              </a:ext>
            </a:extLst>
          </p:cNvPr>
          <p:cNvPicPr>
            <a:picLocks noChangeAspect="1"/>
          </p:cNvPicPr>
          <p:nvPr/>
        </p:nvPicPr>
        <p:blipFill>
          <a:blip r:embed="rId2"/>
          <a:stretch>
            <a:fillRect/>
          </a:stretch>
        </p:blipFill>
        <p:spPr>
          <a:xfrm>
            <a:off x="289810" y="2058375"/>
            <a:ext cx="5429498" cy="2741249"/>
          </a:xfrm>
          <a:prstGeom prst="rect">
            <a:avLst/>
          </a:prstGeom>
        </p:spPr>
      </p:pic>
      <p:sp>
        <p:nvSpPr>
          <p:cNvPr id="9" name="CuadroTexto 8">
            <a:extLst>
              <a:ext uri="{FF2B5EF4-FFF2-40B4-BE49-F238E27FC236}">
                <a16:creationId xmlns:a16="http://schemas.microsoft.com/office/drawing/2014/main" id="{ED113C09-4EA1-C82C-F89B-47EF39FE1D01}"/>
              </a:ext>
            </a:extLst>
          </p:cNvPr>
          <p:cNvSpPr txBox="1"/>
          <p:nvPr/>
        </p:nvSpPr>
        <p:spPr>
          <a:xfrm>
            <a:off x="289810" y="705469"/>
            <a:ext cx="11612378" cy="830997"/>
          </a:xfrm>
          <a:prstGeom prst="rect">
            <a:avLst/>
          </a:prstGeom>
          <a:noFill/>
        </p:spPr>
        <p:txBody>
          <a:bodyPr wrap="square">
            <a:spAutoFit/>
          </a:bodyPr>
          <a:lstStyle/>
          <a:p>
            <a:pPr algn="just"/>
            <a:r>
              <a:rPr lang="es-MX" sz="1600" dirty="0">
                <a:effectLst/>
                <a:latin typeface="+mn-lt"/>
                <a:ea typeface="Calibri" panose="020F0502020204030204" pitchFamily="34" charset="0"/>
                <a:cs typeface="Times New Roman" panose="02020603050405020304" pitchFamily="18" charset="0"/>
              </a:rPr>
              <a:t>2. </a:t>
            </a:r>
            <a:r>
              <a:rPr lang="es-MX" sz="1600" dirty="0"/>
              <a:t>El dueño de negocio quien se llamará </a:t>
            </a:r>
            <a:r>
              <a:rPr lang="es-MX" sz="1600" b="1" dirty="0"/>
              <a:t>OPERADOR PRINCIPAL DE PERU</a:t>
            </a:r>
            <a:r>
              <a:rPr lang="es-MX" sz="1600" dirty="0"/>
              <a:t>, solicita una prueba demostrativa a través de una invitación para crear su sesión en la versión demostrativa, la cual le llegará un mensaje al WhatsApp y le dará el acceso al DEMO, la cual es gratis de uso por 7 días continuos.</a:t>
            </a:r>
          </a:p>
        </p:txBody>
      </p:sp>
      <p:pic>
        <p:nvPicPr>
          <p:cNvPr id="11" name="Imagen 10">
            <a:extLst>
              <a:ext uri="{FF2B5EF4-FFF2-40B4-BE49-F238E27FC236}">
                <a16:creationId xmlns:a16="http://schemas.microsoft.com/office/drawing/2014/main" id="{4BE1ED88-2A9B-39B0-F1D5-1CAEFE72B56E}"/>
              </a:ext>
            </a:extLst>
          </p:cNvPr>
          <p:cNvPicPr>
            <a:picLocks noChangeAspect="1"/>
          </p:cNvPicPr>
          <p:nvPr/>
        </p:nvPicPr>
        <p:blipFill>
          <a:blip r:embed="rId3"/>
          <a:stretch>
            <a:fillRect/>
          </a:stretch>
        </p:blipFill>
        <p:spPr>
          <a:xfrm>
            <a:off x="6095999" y="2259495"/>
            <a:ext cx="5429497" cy="2339008"/>
          </a:xfrm>
          <a:prstGeom prst="rect">
            <a:avLst/>
          </a:prstGeom>
        </p:spPr>
      </p:pic>
    </p:spTree>
    <p:extLst>
      <p:ext uri="{BB962C8B-B14F-4D97-AF65-F5344CB8AC3E}">
        <p14:creationId xmlns:p14="http://schemas.microsoft.com/office/powerpoint/2010/main" val="1116057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94DA3-FE71-199F-44B0-68718C23D079}"/>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5B565E4F-3F92-1CB9-CB64-73ED5B7643B0}"/>
              </a:ext>
            </a:extLst>
          </p:cNvPr>
          <p:cNvSpPr txBox="1"/>
          <p:nvPr/>
        </p:nvSpPr>
        <p:spPr>
          <a:xfrm>
            <a:off x="144487" y="149901"/>
            <a:ext cx="11800680" cy="830997"/>
          </a:xfrm>
          <a:prstGeom prst="rect">
            <a:avLst/>
          </a:prstGeom>
          <a:noFill/>
        </p:spPr>
        <p:txBody>
          <a:bodyPr wrap="square">
            <a:spAutoFit/>
          </a:bodyPr>
          <a:lstStyle/>
          <a:p>
            <a:r>
              <a:rPr lang="es-MX" sz="1600" dirty="0">
                <a:effectLst/>
                <a:latin typeface="+mn-lt"/>
                <a:ea typeface="Calibri" panose="020F0502020204030204" pitchFamily="34" charset="0"/>
                <a:cs typeface="Times New Roman" panose="02020603050405020304" pitchFamily="18" charset="0"/>
              </a:rPr>
              <a:t>3. En su nueva sesión, el </a:t>
            </a:r>
            <a:r>
              <a:rPr lang="es-MX" sz="1600" b="1" dirty="0">
                <a:effectLst/>
                <a:latin typeface="+mn-lt"/>
                <a:ea typeface="Calibri" panose="020F0502020204030204" pitchFamily="34" charset="0"/>
                <a:cs typeface="Times New Roman" panose="02020603050405020304" pitchFamily="18" charset="0"/>
              </a:rPr>
              <a:t>OPERADOR PRINCIPAL DE PERU</a:t>
            </a:r>
            <a:r>
              <a:rPr lang="es-MX" sz="1600" dirty="0">
                <a:effectLst/>
                <a:latin typeface="+mn-lt"/>
                <a:ea typeface="Calibri" panose="020F0502020204030204" pitchFamily="34" charset="0"/>
                <a:cs typeface="Times New Roman" panose="02020603050405020304" pitchFamily="18" charset="0"/>
              </a:rPr>
              <a:t>, podrá registrar todos sus datos totalmente editables: nombre del negocio, logo, nombre, teléfono, correo, Datos de teléfonos para plataformas de pago de banca móvil (Yape/Plin/otros) y ya puede comenzar su uso, Cuentas bancarias y Horario de atención. </a:t>
            </a:r>
            <a:endParaRPr lang="es-MX" sz="1600" dirty="0"/>
          </a:p>
        </p:txBody>
      </p:sp>
      <p:pic>
        <p:nvPicPr>
          <p:cNvPr id="3" name="Imagen 2">
            <a:extLst>
              <a:ext uri="{FF2B5EF4-FFF2-40B4-BE49-F238E27FC236}">
                <a16:creationId xmlns:a16="http://schemas.microsoft.com/office/drawing/2014/main" id="{B5F8C281-9E8E-A2EA-B196-DCF4F07220DA}"/>
              </a:ext>
            </a:extLst>
          </p:cNvPr>
          <p:cNvPicPr>
            <a:picLocks noChangeAspect="1"/>
          </p:cNvPicPr>
          <p:nvPr/>
        </p:nvPicPr>
        <p:blipFill>
          <a:blip r:embed="rId2"/>
          <a:stretch>
            <a:fillRect/>
          </a:stretch>
        </p:blipFill>
        <p:spPr>
          <a:xfrm>
            <a:off x="144487" y="980898"/>
            <a:ext cx="3817913" cy="5727201"/>
          </a:xfrm>
          <a:prstGeom prst="rect">
            <a:avLst/>
          </a:prstGeom>
        </p:spPr>
      </p:pic>
      <p:pic>
        <p:nvPicPr>
          <p:cNvPr id="6" name="Imagen 5">
            <a:extLst>
              <a:ext uri="{FF2B5EF4-FFF2-40B4-BE49-F238E27FC236}">
                <a16:creationId xmlns:a16="http://schemas.microsoft.com/office/drawing/2014/main" id="{7C33D6D1-699C-63B3-182A-269B03CFC88B}"/>
              </a:ext>
            </a:extLst>
          </p:cNvPr>
          <p:cNvPicPr>
            <a:picLocks noChangeAspect="1"/>
          </p:cNvPicPr>
          <p:nvPr/>
        </p:nvPicPr>
        <p:blipFill>
          <a:blip r:embed="rId3"/>
          <a:stretch>
            <a:fillRect/>
          </a:stretch>
        </p:blipFill>
        <p:spPr>
          <a:xfrm>
            <a:off x="4050926" y="2418347"/>
            <a:ext cx="3377564" cy="3003884"/>
          </a:xfrm>
          <a:prstGeom prst="rect">
            <a:avLst/>
          </a:prstGeom>
        </p:spPr>
      </p:pic>
      <p:pic>
        <p:nvPicPr>
          <p:cNvPr id="10" name="Imagen 9">
            <a:extLst>
              <a:ext uri="{FF2B5EF4-FFF2-40B4-BE49-F238E27FC236}">
                <a16:creationId xmlns:a16="http://schemas.microsoft.com/office/drawing/2014/main" id="{E82DA582-1715-01E9-0096-58E5A9D83EE1}"/>
              </a:ext>
            </a:extLst>
          </p:cNvPr>
          <p:cNvPicPr>
            <a:picLocks noChangeAspect="1"/>
          </p:cNvPicPr>
          <p:nvPr/>
        </p:nvPicPr>
        <p:blipFill>
          <a:blip r:embed="rId4"/>
          <a:stretch>
            <a:fillRect/>
          </a:stretch>
        </p:blipFill>
        <p:spPr>
          <a:xfrm>
            <a:off x="7517016" y="973044"/>
            <a:ext cx="4530498" cy="5588177"/>
          </a:xfrm>
          <a:prstGeom prst="rect">
            <a:avLst/>
          </a:prstGeom>
        </p:spPr>
      </p:pic>
    </p:spTree>
    <p:extLst>
      <p:ext uri="{BB962C8B-B14F-4D97-AF65-F5344CB8AC3E}">
        <p14:creationId xmlns:p14="http://schemas.microsoft.com/office/powerpoint/2010/main" val="1762419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D1DF3-022F-B606-85FC-7AFFF9746749}"/>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A59F7EB-BB36-4D1F-DA9D-FF2324BA989A}"/>
              </a:ext>
            </a:extLst>
          </p:cNvPr>
          <p:cNvPicPr>
            <a:picLocks noChangeAspect="1"/>
          </p:cNvPicPr>
          <p:nvPr/>
        </p:nvPicPr>
        <p:blipFill>
          <a:blip r:embed="rId2"/>
          <a:stretch>
            <a:fillRect/>
          </a:stretch>
        </p:blipFill>
        <p:spPr>
          <a:xfrm>
            <a:off x="144486" y="1073231"/>
            <a:ext cx="5951514" cy="3333877"/>
          </a:xfrm>
          <a:prstGeom prst="rect">
            <a:avLst/>
          </a:prstGeom>
        </p:spPr>
      </p:pic>
      <p:sp>
        <p:nvSpPr>
          <p:cNvPr id="7" name="CuadroTexto 6">
            <a:extLst>
              <a:ext uri="{FF2B5EF4-FFF2-40B4-BE49-F238E27FC236}">
                <a16:creationId xmlns:a16="http://schemas.microsoft.com/office/drawing/2014/main" id="{DA6DE4A6-49BB-6DA6-9621-B6FB4C756332}"/>
              </a:ext>
            </a:extLst>
          </p:cNvPr>
          <p:cNvSpPr txBox="1"/>
          <p:nvPr/>
        </p:nvSpPr>
        <p:spPr>
          <a:xfrm>
            <a:off x="144487" y="149901"/>
            <a:ext cx="11800680" cy="830997"/>
          </a:xfrm>
          <a:prstGeom prst="rect">
            <a:avLst/>
          </a:prstGeom>
          <a:noFill/>
        </p:spPr>
        <p:txBody>
          <a:bodyPr wrap="square">
            <a:spAutoFit/>
          </a:bodyPr>
          <a:lstStyle/>
          <a:p>
            <a:r>
              <a:rPr lang="es-MX" sz="1600" dirty="0">
                <a:effectLst/>
                <a:latin typeface="+mn-lt"/>
                <a:ea typeface="Calibri" panose="020F0502020204030204" pitchFamily="34" charset="0"/>
                <a:cs typeface="Times New Roman" panose="02020603050405020304" pitchFamily="18" charset="0"/>
              </a:rPr>
              <a:t>3. En su nueva sesión, el </a:t>
            </a:r>
            <a:r>
              <a:rPr lang="es-MX" sz="1600" b="1" dirty="0">
                <a:effectLst/>
                <a:latin typeface="+mn-lt"/>
                <a:ea typeface="Calibri" panose="020F0502020204030204" pitchFamily="34" charset="0"/>
                <a:cs typeface="Times New Roman" panose="02020603050405020304" pitchFamily="18" charset="0"/>
              </a:rPr>
              <a:t>OPERADOR PRINCIPAL DE PERU</a:t>
            </a:r>
            <a:r>
              <a:rPr lang="es-MX" sz="1600" dirty="0">
                <a:effectLst/>
                <a:latin typeface="+mn-lt"/>
                <a:ea typeface="Calibri" panose="020F0502020204030204" pitchFamily="34" charset="0"/>
                <a:cs typeface="Times New Roman" panose="02020603050405020304" pitchFamily="18" charset="0"/>
              </a:rPr>
              <a:t>, podrá registrar todos sus datos totalmente editables: nombre del negocio, logo, nombre, teléfono, correo, Datos de teléfonos para plataformas de pago de banca móvil (Yape/Plin/otros) y ya puede comenzar su uso, Cuentas bancarias y Horario de atención. </a:t>
            </a:r>
            <a:endParaRPr lang="es-MX" sz="1600" dirty="0"/>
          </a:p>
        </p:txBody>
      </p:sp>
      <p:pic>
        <p:nvPicPr>
          <p:cNvPr id="9" name="Imagen 8">
            <a:extLst>
              <a:ext uri="{FF2B5EF4-FFF2-40B4-BE49-F238E27FC236}">
                <a16:creationId xmlns:a16="http://schemas.microsoft.com/office/drawing/2014/main" id="{E58F8B9D-B485-3B90-ED92-C8003533ACBC}"/>
              </a:ext>
            </a:extLst>
          </p:cNvPr>
          <p:cNvPicPr>
            <a:picLocks noChangeAspect="1"/>
          </p:cNvPicPr>
          <p:nvPr/>
        </p:nvPicPr>
        <p:blipFill>
          <a:blip r:embed="rId3"/>
          <a:stretch>
            <a:fillRect/>
          </a:stretch>
        </p:blipFill>
        <p:spPr>
          <a:xfrm>
            <a:off x="144486" y="4524063"/>
            <a:ext cx="5951514" cy="2184035"/>
          </a:xfrm>
          <a:prstGeom prst="rect">
            <a:avLst/>
          </a:prstGeom>
        </p:spPr>
      </p:pic>
      <p:pic>
        <p:nvPicPr>
          <p:cNvPr id="11" name="Imagen 10">
            <a:extLst>
              <a:ext uri="{FF2B5EF4-FFF2-40B4-BE49-F238E27FC236}">
                <a16:creationId xmlns:a16="http://schemas.microsoft.com/office/drawing/2014/main" id="{62D59AAE-26C1-E0F2-5A4F-C5A4E251B263}"/>
              </a:ext>
            </a:extLst>
          </p:cNvPr>
          <p:cNvPicPr>
            <a:picLocks noChangeAspect="1"/>
          </p:cNvPicPr>
          <p:nvPr/>
        </p:nvPicPr>
        <p:blipFill>
          <a:blip r:embed="rId4"/>
          <a:stretch>
            <a:fillRect/>
          </a:stretch>
        </p:blipFill>
        <p:spPr>
          <a:xfrm>
            <a:off x="6348520" y="1073231"/>
            <a:ext cx="5596647" cy="2870614"/>
          </a:xfrm>
          <a:prstGeom prst="rect">
            <a:avLst/>
          </a:prstGeom>
        </p:spPr>
      </p:pic>
      <p:pic>
        <p:nvPicPr>
          <p:cNvPr id="13" name="Imagen 12">
            <a:extLst>
              <a:ext uri="{FF2B5EF4-FFF2-40B4-BE49-F238E27FC236}">
                <a16:creationId xmlns:a16="http://schemas.microsoft.com/office/drawing/2014/main" id="{967C3F98-06A8-25BB-A66B-0BB12872DB4D}"/>
              </a:ext>
            </a:extLst>
          </p:cNvPr>
          <p:cNvPicPr>
            <a:picLocks noChangeAspect="1"/>
          </p:cNvPicPr>
          <p:nvPr/>
        </p:nvPicPr>
        <p:blipFill>
          <a:blip r:embed="rId5"/>
          <a:stretch>
            <a:fillRect/>
          </a:stretch>
        </p:blipFill>
        <p:spPr>
          <a:xfrm>
            <a:off x="6348520" y="4094724"/>
            <a:ext cx="5596647" cy="2613373"/>
          </a:xfrm>
          <a:prstGeom prst="rect">
            <a:avLst/>
          </a:prstGeom>
        </p:spPr>
      </p:pic>
    </p:spTree>
    <p:extLst>
      <p:ext uri="{BB962C8B-B14F-4D97-AF65-F5344CB8AC3E}">
        <p14:creationId xmlns:p14="http://schemas.microsoft.com/office/powerpoint/2010/main" val="2335143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00119FFF-DC16-DD0A-D857-32FE101D6E0F}"/>
              </a:ext>
            </a:extLst>
          </p:cNvPr>
          <p:cNvSpPr txBox="1"/>
          <p:nvPr/>
        </p:nvSpPr>
        <p:spPr>
          <a:xfrm>
            <a:off x="256546" y="128574"/>
            <a:ext cx="11678907" cy="1815882"/>
          </a:xfrm>
          <a:prstGeom prst="rect">
            <a:avLst/>
          </a:prstGeom>
          <a:noFill/>
        </p:spPr>
        <p:txBody>
          <a:bodyPr wrap="square">
            <a:spAutoFit/>
          </a:bodyPr>
          <a:lstStyle/>
          <a:p>
            <a:pPr lvl="0">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4. En la sesión del </a:t>
            </a:r>
            <a:r>
              <a:rPr lang="es-MX" sz="1600" b="1" dirty="0">
                <a:effectLst/>
                <a:latin typeface="+mn-lt"/>
                <a:ea typeface="Calibri" panose="020F0502020204030204" pitchFamily="34" charset="0"/>
                <a:cs typeface="Times New Roman" panose="02020603050405020304" pitchFamily="18" charset="0"/>
              </a:rPr>
              <a:t>OPERADOR PRINCIPAL DE PERU, d</a:t>
            </a:r>
            <a:r>
              <a:rPr lang="es-MX" sz="1600" kern="100" dirty="0">
                <a:effectLst/>
                <a:latin typeface="+mn-lt"/>
                <a:ea typeface="Calibri" panose="020F0502020204030204" pitchFamily="34" charset="0"/>
                <a:cs typeface="Times New Roman" panose="02020603050405020304" pitchFamily="18" charset="0"/>
              </a:rPr>
              <a:t>entro del Menú que se ubica en la parte inferior, encontrará </a:t>
            </a:r>
            <a:r>
              <a:rPr lang="es-MX" sz="1600" b="1" kern="100" dirty="0">
                <a:effectLst/>
                <a:latin typeface="+mn-lt"/>
                <a:ea typeface="Calibri" panose="020F0502020204030204" pitchFamily="34" charset="0"/>
                <a:cs typeface="Times New Roman" panose="02020603050405020304" pitchFamily="18" charset="0"/>
              </a:rPr>
              <a:t>PANEL</a:t>
            </a:r>
            <a:r>
              <a:rPr lang="es-MX" sz="1600" kern="100" dirty="0">
                <a:effectLst/>
                <a:latin typeface="+mn-lt"/>
                <a:ea typeface="Calibri" panose="020F0502020204030204" pitchFamily="34" charset="0"/>
                <a:cs typeface="Times New Roman" panose="02020603050405020304" pitchFamily="18" charset="0"/>
              </a:rPr>
              <a:t>, podrá introducir datos editables como: Eslogan, Horario de atención</a:t>
            </a:r>
            <a:r>
              <a:rPr lang="es-MX" sz="1600" b="1" kern="100" dirty="0">
                <a:effectLst/>
                <a:latin typeface="+mn-lt"/>
                <a:ea typeface="Calibri" panose="020F0502020204030204" pitchFamily="34" charset="0"/>
                <a:cs typeface="Times New Roman" panose="02020603050405020304" pitchFamily="18" charset="0"/>
              </a:rPr>
              <a:t>, </a:t>
            </a:r>
            <a:r>
              <a:rPr lang="es-MX" sz="1600" kern="100" dirty="0">
                <a:effectLst/>
                <a:latin typeface="+mn-lt"/>
                <a:ea typeface="Calibri" panose="020F0502020204030204" pitchFamily="34" charset="0"/>
                <a:cs typeface="Times New Roman" panose="02020603050405020304" pitchFamily="18" charset="0"/>
              </a:rPr>
              <a:t>Tasa de adquisición (lo que pagas tú por cada bolívar), Tasa del día (Soles → Bolívares). </a:t>
            </a:r>
            <a:r>
              <a:rPr lang="es-MX" sz="1600" kern="100" dirty="0">
                <a:ea typeface="Calibri" panose="020F0502020204030204" pitchFamily="34" charset="0"/>
                <a:cs typeface="Times New Roman" panose="02020603050405020304" pitchFamily="18" charset="0"/>
              </a:rPr>
              <a:t>Aquí, podrá visualizar todas las operaciones en tiempo real: En curso, Realizadas, Por revisión (en caso que no precise la transferencia efectiva a la cuenta del Beneficiario en Venezuela). Este operador podrá validar el depósito realizado por el cliente en Perú en Sol  y que al mismo tiempo en automático enviará un mensaje pro </a:t>
            </a:r>
            <a:r>
              <a:rPr lang="es-MX" sz="1600" kern="100" dirty="0" err="1">
                <a:ea typeface="Calibri" panose="020F0502020204030204" pitchFamily="34" charset="0"/>
                <a:cs typeface="Times New Roman" panose="02020603050405020304" pitchFamily="18" charset="0"/>
              </a:rPr>
              <a:t>Telegram</a:t>
            </a:r>
            <a:r>
              <a:rPr lang="es-MX" sz="1600" kern="100" dirty="0">
                <a:ea typeface="Calibri" panose="020F0502020204030204" pitchFamily="34" charset="0"/>
                <a:cs typeface="Times New Roman" panose="02020603050405020304" pitchFamily="18" charset="0"/>
              </a:rPr>
              <a:t>  al cliente en Perú indicando que se ha validado su depósito y opcionalmente realizar la validación de la transferencia para el beneficiario en Venezuela con su respectivo mensaje en </a:t>
            </a:r>
            <a:r>
              <a:rPr lang="es-MX" sz="1600" kern="100" dirty="0" err="1">
                <a:ea typeface="Calibri" panose="020F0502020204030204" pitchFamily="34" charset="0"/>
                <a:cs typeface="Times New Roman" panose="02020603050405020304" pitchFamily="18" charset="0"/>
              </a:rPr>
              <a:t>Telegram</a:t>
            </a:r>
            <a:r>
              <a:rPr lang="es-MX" sz="1600" kern="100" dirty="0">
                <a:ea typeface="Calibri" panose="020F0502020204030204" pitchFamily="34" charset="0"/>
                <a:cs typeface="Times New Roman" panose="02020603050405020304" pitchFamily="18" charset="0"/>
              </a:rPr>
              <a:t> e imagen de la transferencia indicando que ya se ha realizado dicha transferencia o en su defecto derivar la operación al operador de Perú miembro.</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3" name="Imagen 12">
            <a:extLst>
              <a:ext uri="{FF2B5EF4-FFF2-40B4-BE49-F238E27FC236}">
                <a16:creationId xmlns:a16="http://schemas.microsoft.com/office/drawing/2014/main" id="{C97C82C7-85E5-0CC2-2D90-FD22C277526E}"/>
              </a:ext>
            </a:extLst>
          </p:cNvPr>
          <p:cNvPicPr>
            <a:picLocks noChangeAspect="1"/>
          </p:cNvPicPr>
          <p:nvPr/>
        </p:nvPicPr>
        <p:blipFill>
          <a:blip r:embed="rId2"/>
          <a:stretch>
            <a:fillRect/>
          </a:stretch>
        </p:blipFill>
        <p:spPr>
          <a:xfrm>
            <a:off x="329464" y="1944456"/>
            <a:ext cx="5766536" cy="4566034"/>
          </a:xfrm>
          <a:prstGeom prst="rect">
            <a:avLst/>
          </a:prstGeom>
        </p:spPr>
      </p:pic>
      <p:pic>
        <p:nvPicPr>
          <p:cNvPr id="17" name="Imagen 16">
            <a:extLst>
              <a:ext uri="{FF2B5EF4-FFF2-40B4-BE49-F238E27FC236}">
                <a16:creationId xmlns:a16="http://schemas.microsoft.com/office/drawing/2014/main" id="{F7528FA2-320D-A18D-8F82-C0A69564908F}"/>
              </a:ext>
            </a:extLst>
          </p:cNvPr>
          <p:cNvPicPr>
            <a:picLocks noChangeAspect="1"/>
          </p:cNvPicPr>
          <p:nvPr/>
        </p:nvPicPr>
        <p:blipFill>
          <a:blip r:embed="rId3"/>
          <a:stretch>
            <a:fillRect/>
          </a:stretch>
        </p:blipFill>
        <p:spPr>
          <a:xfrm>
            <a:off x="6168918" y="1966024"/>
            <a:ext cx="5693618" cy="4566034"/>
          </a:xfrm>
          <a:prstGeom prst="rect">
            <a:avLst/>
          </a:prstGeom>
        </p:spPr>
      </p:pic>
    </p:spTree>
    <p:extLst>
      <p:ext uri="{BB962C8B-B14F-4D97-AF65-F5344CB8AC3E}">
        <p14:creationId xmlns:p14="http://schemas.microsoft.com/office/powerpoint/2010/main" val="4171224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C9787-8CF5-B936-3B67-A91C630EB040}"/>
            </a:ext>
          </a:extLst>
        </p:cNvPr>
        <p:cNvGrpSpPr/>
        <p:nvPr/>
      </p:nvGrpSpPr>
      <p:grpSpPr>
        <a:xfrm>
          <a:off x="0" y="0"/>
          <a:ext cx="0" cy="0"/>
          <a:chOff x="0" y="0"/>
          <a:chExt cx="0" cy="0"/>
        </a:xfrm>
      </p:grpSpPr>
      <p:sp>
        <p:nvSpPr>
          <p:cNvPr id="11" name="CuadroTexto 10">
            <a:extLst>
              <a:ext uri="{FF2B5EF4-FFF2-40B4-BE49-F238E27FC236}">
                <a16:creationId xmlns:a16="http://schemas.microsoft.com/office/drawing/2014/main" id="{3A18AE46-9AEC-DB73-9BAC-A365C8667B8D}"/>
              </a:ext>
            </a:extLst>
          </p:cNvPr>
          <p:cNvSpPr txBox="1"/>
          <p:nvPr/>
        </p:nvSpPr>
        <p:spPr>
          <a:xfrm>
            <a:off x="256546" y="128574"/>
            <a:ext cx="11678907" cy="1815882"/>
          </a:xfrm>
          <a:prstGeom prst="rect">
            <a:avLst/>
          </a:prstGeom>
          <a:noFill/>
        </p:spPr>
        <p:txBody>
          <a:bodyPr wrap="square">
            <a:spAutoFit/>
          </a:bodyPr>
          <a:lstStyle/>
          <a:p>
            <a:pPr lvl="0" algn="just">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4. En la sesión del </a:t>
            </a:r>
            <a:r>
              <a:rPr lang="es-MX" sz="1600" b="1" dirty="0">
                <a:effectLst/>
                <a:latin typeface="+mn-lt"/>
                <a:ea typeface="Calibri" panose="020F0502020204030204" pitchFamily="34" charset="0"/>
                <a:cs typeface="Times New Roman" panose="02020603050405020304" pitchFamily="18" charset="0"/>
              </a:rPr>
              <a:t>OPERADOR PRINCIPAL DE PERU, d</a:t>
            </a:r>
            <a:r>
              <a:rPr lang="es-MX" sz="1600" kern="100" dirty="0">
                <a:effectLst/>
                <a:latin typeface="+mn-lt"/>
                <a:ea typeface="Calibri" panose="020F0502020204030204" pitchFamily="34" charset="0"/>
                <a:cs typeface="Times New Roman" panose="02020603050405020304" pitchFamily="18" charset="0"/>
              </a:rPr>
              <a:t>entro del Menú que se ubica en la parte inferior, encontrará </a:t>
            </a:r>
            <a:r>
              <a:rPr lang="es-MX" sz="1600" b="1" kern="100" dirty="0">
                <a:effectLst/>
                <a:latin typeface="+mn-lt"/>
                <a:ea typeface="Calibri" panose="020F0502020204030204" pitchFamily="34" charset="0"/>
                <a:cs typeface="Times New Roman" panose="02020603050405020304" pitchFamily="18" charset="0"/>
              </a:rPr>
              <a:t>PANEL</a:t>
            </a:r>
            <a:r>
              <a:rPr lang="es-MX" sz="1600" kern="100" dirty="0">
                <a:effectLst/>
                <a:latin typeface="+mn-lt"/>
                <a:ea typeface="Calibri" panose="020F0502020204030204" pitchFamily="34" charset="0"/>
                <a:cs typeface="Times New Roman" panose="02020603050405020304" pitchFamily="18" charset="0"/>
              </a:rPr>
              <a:t>, podrá introducir datos editables como: Eslogan, Horario de atención</a:t>
            </a:r>
            <a:r>
              <a:rPr lang="es-MX" sz="1600" b="1" kern="100" dirty="0">
                <a:effectLst/>
                <a:latin typeface="+mn-lt"/>
                <a:ea typeface="Calibri" panose="020F0502020204030204" pitchFamily="34" charset="0"/>
                <a:cs typeface="Times New Roman" panose="02020603050405020304" pitchFamily="18" charset="0"/>
              </a:rPr>
              <a:t>, </a:t>
            </a:r>
            <a:r>
              <a:rPr lang="es-MX" sz="1600" kern="100" dirty="0">
                <a:effectLst/>
                <a:latin typeface="+mn-lt"/>
                <a:ea typeface="Calibri" panose="020F0502020204030204" pitchFamily="34" charset="0"/>
                <a:cs typeface="Times New Roman" panose="02020603050405020304" pitchFamily="18" charset="0"/>
              </a:rPr>
              <a:t>Tasa de adquisición (lo que pagas tú por cada bolívar), Tasa del día (Soles → Bolívares). </a:t>
            </a:r>
            <a:r>
              <a:rPr lang="es-MX" sz="1600" kern="100" dirty="0">
                <a:ea typeface="Calibri" panose="020F0502020204030204" pitchFamily="34" charset="0"/>
                <a:cs typeface="Times New Roman" panose="02020603050405020304" pitchFamily="18" charset="0"/>
              </a:rPr>
              <a:t>Aquí, podrá visualizar todas las operaciones en tiempo real: En curso, Realizadas, Por revisión (en caso que no precise la transferencia efectiva a la cuenta del Beneficiario en Venezuela). Este operador podrá validar el depósito realizado por el cliente en Perú en Sol  y que al mismo tiempo en automático enviará un mensaje pro </a:t>
            </a:r>
            <a:r>
              <a:rPr lang="es-MX" sz="1600" kern="100" dirty="0" err="1">
                <a:ea typeface="Calibri" panose="020F0502020204030204" pitchFamily="34" charset="0"/>
                <a:cs typeface="Times New Roman" panose="02020603050405020304" pitchFamily="18" charset="0"/>
              </a:rPr>
              <a:t>Telegram</a:t>
            </a:r>
            <a:r>
              <a:rPr lang="es-MX" sz="1600" kern="100" dirty="0">
                <a:ea typeface="Calibri" panose="020F0502020204030204" pitchFamily="34" charset="0"/>
                <a:cs typeface="Times New Roman" panose="02020603050405020304" pitchFamily="18" charset="0"/>
              </a:rPr>
              <a:t>  al cliente en Perú indicando que se ha validado su depósito y opcionalmente realizar la validación de la transferencia para el beneficiario en Venezuela con su respectivo mensaje en </a:t>
            </a:r>
            <a:r>
              <a:rPr lang="es-MX" sz="1600" kern="100" dirty="0" err="1">
                <a:ea typeface="Calibri" panose="020F0502020204030204" pitchFamily="34" charset="0"/>
                <a:cs typeface="Times New Roman" panose="02020603050405020304" pitchFamily="18" charset="0"/>
              </a:rPr>
              <a:t>Telegram</a:t>
            </a:r>
            <a:r>
              <a:rPr lang="es-MX" sz="1600" kern="100" dirty="0">
                <a:ea typeface="Calibri" panose="020F0502020204030204" pitchFamily="34" charset="0"/>
                <a:cs typeface="Times New Roman" panose="02020603050405020304" pitchFamily="18" charset="0"/>
              </a:rPr>
              <a:t> e imagen de la transferencia indicando que ya se ha realizado dicha transferencia o en su defecto derivar la operación al operador de Perú miembro.</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Imagen 2">
            <a:extLst>
              <a:ext uri="{FF2B5EF4-FFF2-40B4-BE49-F238E27FC236}">
                <a16:creationId xmlns:a16="http://schemas.microsoft.com/office/drawing/2014/main" id="{166661F1-2020-8F82-54BB-82404A75E74C}"/>
              </a:ext>
            </a:extLst>
          </p:cNvPr>
          <p:cNvPicPr>
            <a:picLocks noChangeAspect="1"/>
          </p:cNvPicPr>
          <p:nvPr/>
        </p:nvPicPr>
        <p:blipFill>
          <a:blip r:embed="rId2"/>
          <a:stretch>
            <a:fillRect/>
          </a:stretch>
        </p:blipFill>
        <p:spPr>
          <a:xfrm>
            <a:off x="882188" y="2069432"/>
            <a:ext cx="6138164" cy="4659994"/>
          </a:xfrm>
          <a:prstGeom prst="rect">
            <a:avLst/>
          </a:prstGeom>
        </p:spPr>
      </p:pic>
      <p:pic>
        <p:nvPicPr>
          <p:cNvPr id="5" name="Imagen 4">
            <a:extLst>
              <a:ext uri="{FF2B5EF4-FFF2-40B4-BE49-F238E27FC236}">
                <a16:creationId xmlns:a16="http://schemas.microsoft.com/office/drawing/2014/main" id="{EB9E52E3-CE09-AE12-289A-3489028448EA}"/>
              </a:ext>
            </a:extLst>
          </p:cNvPr>
          <p:cNvPicPr>
            <a:picLocks noChangeAspect="1"/>
          </p:cNvPicPr>
          <p:nvPr/>
        </p:nvPicPr>
        <p:blipFill>
          <a:blip r:embed="rId3"/>
          <a:stretch>
            <a:fillRect/>
          </a:stretch>
        </p:blipFill>
        <p:spPr>
          <a:xfrm>
            <a:off x="7584908" y="2069432"/>
            <a:ext cx="3086100" cy="4659994"/>
          </a:xfrm>
          <a:prstGeom prst="rect">
            <a:avLst/>
          </a:prstGeom>
        </p:spPr>
      </p:pic>
    </p:spTree>
    <p:extLst>
      <p:ext uri="{BB962C8B-B14F-4D97-AF65-F5344CB8AC3E}">
        <p14:creationId xmlns:p14="http://schemas.microsoft.com/office/powerpoint/2010/main" val="3132172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264AF-F4DC-F713-1D84-000559706849}"/>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E68FAF2-2A69-10A5-1DD2-F82887103F80}"/>
              </a:ext>
            </a:extLst>
          </p:cNvPr>
          <p:cNvSpPr txBox="1"/>
          <p:nvPr/>
        </p:nvSpPr>
        <p:spPr>
          <a:xfrm>
            <a:off x="161144" y="97763"/>
            <a:ext cx="11869709" cy="1918474"/>
          </a:xfrm>
          <a:prstGeom prst="rect">
            <a:avLst/>
          </a:prstGeom>
          <a:noFill/>
        </p:spPr>
        <p:txBody>
          <a:bodyPr wrap="square">
            <a:spAutoFit/>
          </a:bodyPr>
          <a:lstStyle/>
          <a:p>
            <a:pPr lvl="0" algn="just">
              <a:lnSpc>
                <a:spcPct val="100000"/>
              </a:lnSpc>
              <a:spcAft>
                <a:spcPts val="800"/>
              </a:spcAft>
            </a:pPr>
            <a:r>
              <a:rPr lang="es-MX" sz="1400" kern="100" dirty="0">
                <a:effectLst/>
                <a:latin typeface="+mn-lt"/>
                <a:ea typeface="Calibri" panose="020F0502020204030204" pitchFamily="34" charset="0"/>
                <a:cs typeface="Times New Roman" panose="02020603050405020304" pitchFamily="18" charset="0"/>
              </a:rPr>
              <a:t>5. En la sesión del </a:t>
            </a:r>
            <a:r>
              <a:rPr lang="es-MX" sz="1400" b="1" kern="100" dirty="0">
                <a:effectLst/>
                <a:latin typeface="+mn-lt"/>
                <a:ea typeface="Calibri" panose="020F0502020204030204" pitchFamily="34" charset="0"/>
                <a:cs typeface="Times New Roman" panose="02020603050405020304" pitchFamily="18" charset="0"/>
              </a:rPr>
              <a:t>OPERADOR PRINCIPAL DE PERU</a:t>
            </a:r>
            <a:r>
              <a:rPr lang="es-MX" sz="1400" kern="100" dirty="0">
                <a:effectLst/>
                <a:latin typeface="+mn-lt"/>
                <a:ea typeface="Calibri" panose="020F0502020204030204" pitchFamily="34" charset="0"/>
                <a:cs typeface="Times New Roman" panose="02020603050405020304" pitchFamily="18" charset="0"/>
              </a:rPr>
              <a:t>, dentro del Menú que se ubica en la parte inferior, encontrará </a:t>
            </a:r>
            <a:r>
              <a:rPr lang="es-MX" sz="1400" b="1" kern="100" dirty="0">
                <a:effectLst/>
                <a:latin typeface="+mn-lt"/>
                <a:ea typeface="Calibri" panose="020F0502020204030204" pitchFamily="34" charset="0"/>
                <a:cs typeface="Times New Roman" panose="02020603050405020304" pitchFamily="18" charset="0"/>
              </a:rPr>
              <a:t>ESTADISTICAS</a:t>
            </a:r>
            <a:r>
              <a:rPr lang="es-MX" sz="1400" kern="100" dirty="0">
                <a:effectLst/>
                <a:latin typeface="+mn-lt"/>
                <a:ea typeface="Calibri" panose="020F0502020204030204" pitchFamily="34" charset="0"/>
                <a:cs typeface="Times New Roman" panose="02020603050405020304" pitchFamily="18" charset="0"/>
              </a:rPr>
              <a:t>, podrá acceder a información de la estadísticas de operaciones como:  número de operaciones, total de monto en PEN, total de monto transferido a beneficiarios y transferidos a Venezuela en VES, ganancia neta en PEN, Comisión equipo Perú en PEN (con el nombre de sus operadores), Comisión equipo Venezuela en VES y PEN (con el nombre de sus operadores), Gráficos Barras, circular o línea con descargables. Detalle de cada operaciones (cuando fue generada y atendida con fecha y hora, Tiempo de respuesta total, monto depositado en PEN y transferido en VES y la cuenta del Beneficiario, comisiones pro operador Perú en PEN y Venezuela en VES, transferencia a Venezuela en VES, ganancias bruta y neta en PEN, </a:t>
            </a:r>
            <a:r>
              <a:rPr lang="es-MX" sz="1400" kern="100" dirty="0">
                <a:ea typeface="Calibri" panose="020F0502020204030204" pitchFamily="34" charset="0"/>
                <a:cs typeface="Times New Roman" panose="02020603050405020304" pitchFamily="18" charset="0"/>
              </a:rPr>
              <a:t>W</a:t>
            </a:r>
            <a:r>
              <a:rPr lang="es-MX" sz="1400" kern="100" dirty="0">
                <a:effectLst/>
                <a:latin typeface="+mn-lt"/>
                <a:ea typeface="Calibri" panose="020F0502020204030204" pitchFamily="34" charset="0"/>
                <a:cs typeface="Times New Roman" panose="02020603050405020304" pitchFamily="18" charset="0"/>
              </a:rPr>
              <a:t>hatsApp del cliente en Perú y del Beneficiario con sus respectivos nombres), descargas en EXCEL y PDF con todos sus datos respectivos.</a:t>
            </a:r>
          </a:p>
          <a:p>
            <a:pPr lvl="0" algn="just">
              <a:lnSpc>
                <a:spcPct val="100000"/>
              </a:lnSpc>
              <a:spcAft>
                <a:spcPts val="800"/>
              </a:spcAft>
            </a:pPr>
            <a:endParaRPr lang="es-MX"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277C36EB-FB68-D3F2-AB53-C5B81E024D27}"/>
              </a:ext>
            </a:extLst>
          </p:cNvPr>
          <p:cNvPicPr>
            <a:picLocks noChangeAspect="1"/>
          </p:cNvPicPr>
          <p:nvPr/>
        </p:nvPicPr>
        <p:blipFill>
          <a:blip r:embed="rId2"/>
          <a:stretch>
            <a:fillRect/>
          </a:stretch>
        </p:blipFill>
        <p:spPr>
          <a:xfrm>
            <a:off x="293469" y="1703900"/>
            <a:ext cx="5048027" cy="3137864"/>
          </a:xfrm>
          <a:prstGeom prst="rect">
            <a:avLst/>
          </a:prstGeom>
        </p:spPr>
      </p:pic>
      <p:pic>
        <p:nvPicPr>
          <p:cNvPr id="7" name="Imagen 6">
            <a:extLst>
              <a:ext uri="{FF2B5EF4-FFF2-40B4-BE49-F238E27FC236}">
                <a16:creationId xmlns:a16="http://schemas.microsoft.com/office/drawing/2014/main" id="{28487CF5-3FF0-0B07-2F01-AD1017182351}"/>
              </a:ext>
            </a:extLst>
          </p:cNvPr>
          <p:cNvPicPr>
            <a:picLocks noChangeAspect="1"/>
          </p:cNvPicPr>
          <p:nvPr/>
        </p:nvPicPr>
        <p:blipFill>
          <a:blip r:embed="rId3"/>
          <a:stretch>
            <a:fillRect/>
          </a:stretch>
        </p:blipFill>
        <p:spPr>
          <a:xfrm>
            <a:off x="5807243" y="1568353"/>
            <a:ext cx="5999408" cy="3717501"/>
          </a:xfrm>
          <a:prstGeom prst="rect">
            <a:avLst/>
          </a:prstGeom>
        </p:spPr>
      </p:pic>
      <p:pic>
        <p:nvPicPr>
          <p:cNvPr id="9" name="Imagen 8">
            <a:extLst>
              <a:ext uri="{FF2B5EF4-FFF2-40B4-BE49-F238E27FC236}">
                <a16:creationId xmlns:a16="http://schemas.microsoft.com/office/drawing/2014/main" id="{430139F4-C555-6778-666A-F31006E37697}"/>
              </a:ext>
            </a:extLst>
          </p:cNvPr>
          <p:cNvPicPr>
            <a:picLocks noChangeAspect="1"/>
          </p:cNvPicPr>
          <p:nvPr/>
        </p:nvPicPr>
        <p:blipFill>
          <a:blip r:embed="rId4"/>
          <a:srcRect t="49602"/>
          <a:stretch>
            <a:fillRect/>
          </a:stretch>
        </p:blipFill>
        <p:spPr>
          <a:xfrm>
            <a:off x="5807242" y="5438274"/>
            <a:ext cx="5999408" cy="1318170"/>
          </a:xfrm>
          <a:prstGeom prst="rect">
            <a:avLst/>
          </a:prstGeom>
        </p:spPr>
      </p:pic>
      <p:pic>
        <p:nvPicPr>
          <p:cNvPr id="11" name="Imagen 10">
            <a:extLst>
              <a:ext uri="{FF2B5EF4-FFF2-40B4-BE49-F238E27FC236}">
                <a16:creationId xmlns:a16="http://schemas.microsoft.com/office/drawing/2014/main" id="{E5CC0E8C-5008-54C2-17B3-F443BA3C0C34}"/>
              </a:ext>
            </a:extLst>
          </p:cNvPr>
          <p:cNvPicPr>
            <a:picLocks noChangeAspect="1"/>
          </p:cNvPicPr>
          <p:nvPr/>
        </p:nvPicPr>
        <p:blipFill>
          <a:blip r:embed="rId5"/>
          <a:stretch>
            <a:fillRect/>
          </a:stretch>
        </p:blipFill>
        <p:spPr>
          <a:xfrm>
            <a:off x="293469" y="4959883"/>
            <a:ext cx="5048026" cy="1796561"/>
          </a:xfrm>
          <a:prstGeom prst="rect">
            <a:avLst/>
          </a:prstGeom>
        </p:spPr>
      </p:pic>
    </p:spTree>
    <p:extLst>
      <p:ext uri="{BB962C8B-B14F-4D97-AF65-F5344CB8AC3E}">
        <p14:creationId xmlns:p14="http://schemas.microsoft.com/office/powerpoint/2010/main" val="1111731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70A82-902F-D038-E956-6BEBFBE46ABC}"/>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52C4927-825A-7320-7507-B5C94DEDFE07}"/>
              </a:ext>
            </a:extLst>
          </p:cNvPr>
          <p:cNvPicPr>
            <a:picLocks noChangeAspect="1"/>
          </p:cNvPicPr>
          <p:nvPr/>
        </p:nvPicPr>
        <p:blipFill>
          <a:blip r:embed="rId2"/>
          <a:stretch>
            <a:fillRect/>
          </a:stretch>
        </p:blipFill>
        <p:spPr>
          <a:xfrm>
            <a:off x="340318" y="1382103"/>
            <a:ext cx="5208377" cy="2439154"/>
          </a:xfrm>
          <a:prstGeom prst="rect">
            <a:avLst/>
          </a:prstGeom>
        </p:spPr>
      </p:pic>
      <p:pic>
        <p:nvPicPr>
          <p:cNvPr id="5" name="Imagen 4">
            <a:extLst>
              <a:ext uri="{FF2B5EF4-FFF2-40B4-BE49-F238E27FC236}">
                <a16:creationId xmlns:a16="http://schemas.microsoft.com/office/drawing/2014/main" id="{77EB8E9B-8AA5-EE19-D6CC-031D101F22F2}"/>
              </a:ext>
            </a:extLst>
          </p:cNvPr>
          <p:cNvPicPr>
            <a:picLocks noChangeAspect="1"/>
          </p:cNvPicPr>
          <p:nvPr/>
        </p:nvPicPr>
        <p:blipFill>
          <a:blip r:embed="rId3"/>
          <a:stretch>
            <a:fillRect/>
          </a:stretch>
        </p:blipFill>
        <p:spPr>
          <a:xfrm>
            <a:off x="340318" y="4022182"/>
            <a:ext cx="5208377" cy="2539971"/>
          </a:xfrm>
          <a:prstGeom prst="rect">
            <a:avLst/>
          </a:prstGeom>
        </p:spPr>
      </p:pic>
      <p:pic>
        <p:nvPicPr>
          <p:cNvPr id="7" name="Imagen 6">
            <a:extLst>
              <a:ext uri="{FF2B5EF4-FFF2-40B4-BE49-F238E27FC236}">
                <a16:creationId xmlns:a16="http://schemas.microsoft.com/office/drawing/2014/main" id="{63ADFEEE-0459-7B04-8282-7941D5F0826B}"/>
              </a:ext>
            </a:extLst>
          </p:cNvPr>
          <p:cNvPicPr>
            <a:picLocks noChangeAspect="1"/>
          </p:cNvPicPr>
          <p:nvPr/>
        </p:nvPicPr>
        <p:blipFill>
          <a:blip r:embed="rId4"/>
          <a:stretch>
            <a:fillRect/>
          </a:stretch>
        </p:blipFill>
        <p:spPr>
          <a:xfrm>
            <a:off x="6084593" y="1473638"/>
            <a:ext cx="5594060" cy="1955362"/>
          </a:xfrm>
          <a:prstGeom prst="rect">
            <a:avLst/>
          </a:prstGeom>
        </p:spPr>
      </p:pic>
      <p:sp>
        <p:nvSpPr>
          <p:cNvPr id="17" name="CuadroTexto 16">
            <a:extLst>
              <a:ext uri="{FF2B5EF4-FFF2-40B4-BE49-F238E27FC236}">
                <a16:creationId xmlns:a16="http://schemas.microsoft.com/office/drawing/2014/main" id="{AFF29EFE-D176-DADC-805B-E8BA0875467D}"/>
              </a:ext>
            </a:extLst>
          </p:cNvPr>
          <p:cNvSpPr txBox="1"/>
          <p:nvPr/>
        </p:nvSpPr>
        <p:spPr>
          <a:xfrm>
            <a:off x="113288" y="103959"/>
            <a:ext cx="11565365" cy="1077218"/>
          </a:xfrm>
          <a:prstGeom prst="rect">
            <a:avLst/>
          </a:prstGeom>
          <a:noFill/>
        </p:spPr>
        <p:txBody>
          <a:bodyPr wrap="square">
            <a:spAutoFit/>
          </a:bodyPr>
          <a:lstStyle/>
          <a:p>
            <a:pPr lvl="0" algn="just">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6. En la sesión del </a:t>
            </a:r>
            <a:r>
              <a:rPr lang="es-MX" sz="1600" b="1" kern="100" dirty="0">
                <a:effectLst/>
                <a:latin typeface="+mn-lt"/>
                <a:ea typeface="Calibri" panose="020F0502020204030204" pitchFamily="34" charset="0"/>
                <a:cs typeface="Times New Roman" panose="02020603050405020304" pitchFamily="18" charset="0"/>
              </a:rPr>
              <a:t>OPERADOR PRINCIPAL DE PERU</a:t>
            </a:r>
            <a:r>
              <a:rPr lang="es-MX" sz="1600" kern="100" dirty="0">
                <a:effectLst/>
                <a:latin typeface="+mn-lt"/>
                <a:ea typeface="Calibri" panose="020F0502020204030204" pitchFamily="34" charset="0"/>
                <a:cs typeface="Times New Roman" panose="02020603050405020304" pitchFamily="18" charset="0"/>
              </a:rPr>
              <a:t>, dentro del Menú que se ubica en la parte inferior, encontrará </a:t>
            </a:r>
            <a:r>
              <a:rPr lang="es-MX" sz="1600" b="1" kern="100" dirty="0">
                <a:effectLst/>
                <a:latin typeface="+mn-lt"/>
                <a:ea typeface="Calibri" panose="020F0502020204030204" pitchFamily="34" charset="0"/>
                <a:cs typeface="Times New Roman" panose="02020603050405020304" pitchFamily="18" charset="0"/>
              </a:rPr>
              <a:t>CLIENTES</a:t>
            </a:r>
            <a:r>
              <a:rPr lang="es-MX" sz="1600" kern="100" dirty="0">
                <a:effectLst/>
                <a:latin typeface="+mn-lt"/>
                <a:ea typeface="Calibri" panose="020F0502020204030204" pitchFamily="34" charset="0"/>
                <a:cs typeface="Times New Roman" panose="02020603050405020304" pitchFamily="18" charset="0"/>
              </a:rPr>
              <a:t>, podrá invitar  a tus clientes compartiendo una </a:t>
            </a:r>
            <a:r>
              <a:rPr lang="es-MX" sz="1600" kern="100" dirty="0">
                <a:ea typeface="Calibri" panose="020F0502020204030204" pitchFamily="34" charset="0"/>
                <a:cs typeface="Times New Roman" panose="02020603050405020304" pitchFamily="18" charset="0"/>
              </a:rPr>
              <a:t>L</a:t>
            </a:r>
            <a:r>
              <a:rPr lang="es-MX" sz="1600" kern="100" dirty="0">
                <a:effectLst/>
                <a:latin typeface="+mn-lt"/>
                <a:ea typeface="Calibri" panose="020F0502020204030204" pitchFamily="34" charset="0"/>
                <a:cs typeface="Times New Roman" panose="02020603050405020304" pitchFamily="18" charset="0"/>
              </a:rPr>
              <a:t>anding page (</a:t>
            </a:r>
            <a:r>
              <a:rPr lang="es-MX" sz="1600" u="sng" kern="100" dirty="0">
                <a:solidFill>
                  <a:schemeClr val="tx1"/>
                </a:solidFill>
                <a:effectLst/>
                <a:latin typeface="+mn-lt"/>
                <a:ea typeface="Calibri" panose="020F0502020204030204" pitchFamily="34" charset="0"/>
                <a:cs typeface="Times New Roman" panose="02020603050405020304" pitchFamily="18" charset="0"/>
                <a:hlinkClick r:id="rId5"/>
              </a:rPr>
              <a:t>https://remesas-envioya.vercel.app</a:t>
            </a:r>
            <a:r>
              <a:rPr lang="es-MX" sz="1600" kern="100" dirty="0">
                <a:effectLst/>
                <a:latin typeface="+mn-lt"/>
                <a:ea typeface="Calibri" panose="020F0502020204030204" pitchFamily="34" charset="0"/>
                <a:cs typeface="Times New Roman" panose="02020603050405020304" pitchFamily="18" charset="0"/>
              </a:rPr>
              <a:t>) con tu cliente por WhatsApp incluido un mensaje de bienvenida y un enlace que dirige al nuevo cliente a la Landing page. Aquí el nuevo cliente podrá acceder a la sesión usando un correo Gmail válido y con su respectiva contraseña propia. Finalmente, visualizará sus clientes registrados con todos sus datos.</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Imagen 3">
            <a:extLst>
              <a:ext uri="{FF2B5EF4-FFF2-40B4-BE49-F238E27FC236}">
                <a16:creationId xmlns:a16="http://schemas.microsoft.com/office/drawing/2014/main" id="{1597A574-D6DA-35E5-5F16-6647DF48DA06}"/>
              </a:ext>
            </a:extLst>
          </p:cNvPr>
          <p:cNvPicPr>
            <a:picLocks noChangeAspect="1"/>
          </p:cNvPicPr>
          <p:nvPr/>
        </p:nvPicPr>
        <p:blipFill>
          <a:blip r:embed="rId6"/>
          <a:stretch>
            <a:fillRect/>
          </a:stretch>
        </p:blipFill>
        <p:spPr>
          <a:xfrm>
            <a:off x="6011615" y="3813236"/>
            <a:ext cx="5840068" cy="2539971"/>
          </a:xfrm>
          <a:prstGeom prst="rect">
            <a:avLst/>
          </a:prstGeom>
        </p:spPr>
      </p:pic>
    </p:spTree>
    <p:extLst>
      <p:ext uri="{BB962C8B-B14F-4D97-AF65-F5344CB8AC3E}">
        <p14:creationId xmlns:p14="http://schemas.microsoft.com/office/powerpoint/2010/main" val="2574311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05065-4AC9-0E2E-D74B-4D0DBDA1892C}"/>
            </a:ext>
          </a:extLst>
        </p:cNvPr>
        <p:cNvGrpSpPr/>
        <p:nvPr/>
      </p:nvGrpSpPr>
      <p:grpSpPr>
        <a:xfrm>
          <a:off x="0" y="0"/>
          <a:ext cx="0" cy="0"/>
          <a:chOff x="0" y="0"/>
          <a:chExt cx="0" cy="0"/>
        </a:xfrm>
      </p:grpSpPr>
      <p:sp>
        <p:nvSpPr>
          <p:cNvPr id="17" name="CuadroTexto 16">
            <a:extLst>
              <a:ext uri="{FF2B5EF4-FFF2-40B4-BE49-F238E27FC236}">
                <a16:creationId xmlns:a16="http://schemas.microsoft.com/office/drawing/2014/main" id="{AA133EDD-34D2-C641-619C-87D67179A9D0}"/>
              </a:ext>
            </a:extLst>
          </p:cNvPr>
          <p:cNvSpPr txBox="1"/>
          <p:nvPr/>
        </p:nvSpPr>
        <p:spPr>
          <a:xfrm>
            <a:off x="113289" y="103959"/>
            <a:ext cx="11638999" cy="1077218"/>
          </a:xfrm>
          <a:prstGeom prst="rect">
            <a:avLst/>
          </a:prstGeom>
          <a:noFill/>
        </p:spPr>
        <p:txBody>
          <a:bodyPr wrap="square">
            <a:spAutoFit/>
          </a:bodyPr>
          <a:lstStyle/>
          <a:p>
            <a:pPr lvl="0">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6. En la sesión del </a:t>
            </a:r>
            <a:r>
              <a:rPr lang="es-MX" sz="1600" b="1" kern="100" dirty="0">
                <a:effectLst/>
                <a:latin typeface="+mn-lt"/>
                <a:ea typeface="Calibri" panose="020F0502020204030204" pitchFamily="34" charset="0"/>
                <a:cs typeface="Times New Roman" panose="02020603050405020304" pitchFamily="18" charset="0"/>
              </a:rPr>
              <a:t>OPERADOR PRINCIPAL DE PERU</a:t>
            </a:r>
            <a:r>
              <a:rPr lang="es-MX" sz="1600" kern="100" dirty="0">
                <a:effectLst/>
                <a:latin typeface="+mn-lt"/>
                <a:ea typeface="Calibri" panose="020F0502020204030204" pitchFamily="34" charset="0"/>
                <a:cs typeface="Times New Roman" panose="02020603050405020304" pitchFamily="18" charset="0"/>
              </a:rPr>
              <a:t>, dentro del Menú que se ubica en la parte inferior, encontrará </a:t>
            </a:r>
            <a:r>
              <a:rPr lang="es-MX" sz="1600" b="1" kern="100" dirty="0">
                <a:effectLst/>
                <a:latin typeface="+mn-lt"/>
                <a:ea typeface="Calibri" panose="020F0502020204030204" pitchFamily="34" charset="0"/>
                <a:cs typeface="Times New Roman" panose="02020603050405020304" pitchFamily="18" charset="0"/>
              </a:rPr>
              <a:t>CLIENTES</a:t>
            </a:r>
            <a:r>
              <a:rPr lang="es-MX" sz="1600" kern="100" dirty="0">
                <a:effectLst/>
                <a:latin typeface="+mn-lt"/>
                <a:ea typeface="Calibri" panose="020F0502020204030204" pitchFamily="34" charset="0"/>
                <a:cs typeface="Times New Roman" panose="02020603050405020304" pitchFamily="18" charset="0"/>
              </a:rPr>
              <a:t>, podrá invitar  a tus clientes compartiendo una Landing page (</a:t>
            </a:r>
            <a:r>
              <a:rPr lang="es-MX" sz="1600" u="sng" kern="100" dirty="0">
                <a:solidFill>
                  <a:schemeClr val="tx1"/>
                </a:solidFill>
                <a:effectLst/>
                <a:latin typeface="+mn-lt"/>
                <a:ea typeface="Calibri" panose="020F0502020204030204" pitchFamily="34" charset="0"/>
                <a:cs typeface="Times New Roman" panose="02020603050405020304" pitchFamily="18" charset="0"/>
                <a:hlinkClick r:id="rId2"/>
              </a:rPr>
              <a:t>https://remesas-envioya.vercel.app</a:t>
            </a:r>
            <a:r>
              <a:rPr lang="es-MX" sz="1600" kern="100" dirty="0">
                <a:effectLst/>
                <a:latin typeface="+mn-lt"/>
                <a:ea typeface="Calibri" panose="020F0502020204030204" pitchFamily="34" charset="0"/>
                <a:cs typeface="Times New Roman" panose="02020603050405020304" pitchFamily="18" charset="0"/>
              </a:rPr>
              <a:t>) con tu cliente por WhatsApp incluido un mensaje de bienvenida y un enlace que dirige al nuevo cliente a la Landing page. Aquí el nuevo cliente podrá acceder a la sesión usando un correo Gmail válido y con su respectiva contraseña propia. Finalmente, visualizará sus clientes registrados con todos sus datos.</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9" name="Imagen 18">
            <a:extLst>
              <a:ext uri="{FF2B5EF4-FFF2-40B4-BE49-F238E27FC236}">
                <a16:creationId xmlns:a16="http://schemas.microsoft.com/office/drawing/2014/main" id="{3EAF2A3A-885B-FF66-DBAA-F2D9F96A3D6C}"/>
              </a:ext>
            </a:extLst>
          </p:cNvPr>
          <p:cNvPicPr>
            <a:picLocks noChangeAspect="1"/>
          </p:cNvPicPr>
          <p:nvPr/>
        </p:nvPicPr>
        <p:blipFill>
          <a:blip r:embed="rId3"/>
          <a:stretch>
            <a:fillRect/>
          </a:stretch>
        </p:blipFill>
        <p:spPr>
          <a:xfrm>
            <a:off x="133552" y="1404963"/>
            <a:ext cx="3437272" cy="5388811"/>
          </a:xfrm>
          <a:prstGeom prst="rect">
            <a:avLst/>
          </a:prstGeom>
        </p:spPr>
      </p:pic>
      <p:pic>
        <p:nvPicPr>
          <p:cNvPr id="21" name="Imagen 20">
            <a:extLst>
              <a:ext uri="{FF2B5EF4-FFF2-40B4-BE49-F238E27FC236}">
                <a16:creationId xmlns:a16="http://schemas.microsoft.com/office/drawing/2014/main" id="{D12F9FBE-3A98-064E-A62F-B9EE8B3B37E8}"/>
              </a:ext>
            </a:extLst>
          </p:cNvPr>
          <p:cNvPicPr>
            <a:picLocks noChangeAspect="1"/>
          </p:cNvPicPr>
          <p:nvPr/>
        </p:nvPicPr>
        <p:blipFill>
          <a:blip r:embed="rId4"/>
          <a:stretch>
            <a:fillRect/>
          </a:stretch>
        </p:blipFill>
        <p:spPr>
          <a:xfrm>
            <a:off x="3746783" y="2597426"/>
            <a:ext cx="3873217" cy="3003884"/>
          </a:xfrm>
          <a:prstGeom prst="rect">
            <a:avLst/>
          </a:prstGeom>
        </p:spPr>
      </p:pic>
      <p:pic>
        <p:nvPicPr>
          <p:cNvPr id="23" name="Imagen 22">
            <a:extLst>
              <a:ext uri="{FF2B5EF4-FFF2-40B4-BE49-F238E27FC236}">
                <a16:creationId xmlns:a16="http://schemas.microsoft.com/office/drawing/2014/main" id="{3E262624-167B-2142-5A94-3A8EF060A5B1}"/>
              </a:ext>
            </a:extLst>
          </p:cNvPr>
          <p:cNvPicPr>
            <a:picLocks noChangeAspect="1"/>
          </p:cNvPicPr>
          <p:nvPr/>
        </p:nvPicPr>
        <p:blipFill>
          <a:blip r:embed="rId5"/>
          <a:stretch>
            <a:fillRect/>
          </a:stretch>
        </p:blipFill>
        <p:spPr>
          <a:xfrm>
            <a:off x="7764379" y="1181176"/>
            <a:ext cx="4180415" cy="5388811"/>
          </a:xfrm>
          <a:prstGeom prst="rect">
            <a:avLst/>
          </a:prstGeom>
        </p:spPr>
      </p:pic>
    </p:spTree>
    <p:extLst>
      <p:ext uri="{BB962C8B-B14F-4D97-AF65-F5344CB8AC3E}">
        <p14:creationId xmlns:p14="http://schemas.microsoft.com/office/powerpoint/2010/main" val="1696670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E4D0D-0E30-92CE-032F-14182B17AD12}"/>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D704D97D-0E22-44F5-F363-0B74E28C8533}"/>
              </a:ext>
            </a:extLst>
          </p:cNvPr>
          <p:cNvPicPr>
            <a:picLocks noChangeAspect="1"/>
          </p:cNvPicPr>
          <p:nvPr/>
        </p:nvPicPr>
        <p:blipFill>
          <a:blip r:embed="rId2"/>
          <a:stretch>
            <a:fillRect/>
          </a:stretch>
        </p:blipFill>
        <p:spPr>
          <a:xfrm>
            <a:off x="319011" y="1679103"/>
            <a:ext cx="4323798" cy="1629002"/>
          </a:xfrm>
          <a:prstGeom prst="rect">
            <a:avLst/>
          </a:prstGeom>
        </p:spPr>
      </p:pic>
      <p:pic>
        <p:nvPicPr>
          <p:cNvPr id="5" name="Imagen 4">
            <a:extLst>
              <a:ext uri="{FF2B5EF4-FFF2-40B4-BE49-F238E27FC236}">
                <a16:creationId xmlns:a16="http://schemas.microsoft.com/office/drawing/2014/main" id="{0BD53B56-9779-2BFC-2A0D-C0ED82FAE651}"/>
              </a:ext>
            </a:extLst>
          </p:cNvPr>
          <p:cNvPicPr>
            <a:picLocks noChangeAspect="1"/>
          </p:cNvPicPr>
          <p:nvPr/>
        </p:nvPicPr>
        <p:blipFill>
          <a:blip r:embed="rId3"/>
          <a:stretch>
            <a:fillRect/>
          </a:stretch>
        </p:blipFill>
        <p:spPr>
          <a:xfrm>
            <a:off x="319011" y="3308105"/>
            <a:ext cx="4118077" cy="1937479"/>
          </a:xfrm>
          <a:prstGeom prst="rect">
            <a:avLst/>
          </a:prstGeom>
        </p:spPr>
      </p:pic>
      <p:pic>
        <p:nvPicPr>
          <p:cNvPr id="7" name="Imagen 6">
            <a:extLst>
              <a:ext uri="{FF2B5EF4-FFF2-40B4-BE49-F238E27FC236}">
                <a16:creationId xmlns:a16="http://schemas.microsoft.com/office/drawing/2014/main" id="{89FB0DF6-D136-613E-B4AF-57880FADAE5D}"/>
              </a:ext>
            </a:extLst>
          </p:cNvPr>
          <p:cNvPicPr>
            <a:picLocks noChangeAspect="1"/>
          </p:cNvPicPr>
          <p:nvPr/>
        </p:nvPicPr>
        <p:blipFill>
          <a:blip r:embed="rId4"/>
          <a:stretch>
            <a:fillRect/>
          </a:stretch>
        </p:blipFill>
        <p:spPr>
          <a:xfrm>
            <a:off x="278182" y="5282854"/>
            <a:ext cx="4118077" cy="1471187"/>
          </a:xfrm>
          <a:prstGeom prst="rect">
            <a:avLst/>
          </a:prstGeom>
        </p:spPr>
      </p:pic>
      <p:pic>
        <p:nvPicPr>
          <p:cNvPr id="9" name="Imagen 8">
            <a:extLst>
              <a:ext uri="{FF2B5EF4-FFF2-40B4-BE49-F238E27FC236}">
                <a16:creationId xmlns:a16="http://schemas.microsoft.com/office/drawing/2014/main" id="{BB1B1691-94E8-6F32-2757-D5E46CFFBCD8}"/>
              </a:ext>
            </a:extLst>
          </p:cNvPr>
          <p:cNvPicPr>
            <a:picLocks noChangeAspect="1"/>
          </p:cNvPicPr>
          <p:nvPr/>
        </p:nvPicPr>
        <p:blipFill>
          <a:blip r:embed="rId5"/>
          <a:stretch>
            <a:fillRect/>
          </a:stretch>
        </p:blipFill>
        <p:spPr>
          <a:xfrm>
            <a:off x="5507285" y="1673619"/>
            <a:ext cx="6245003" cy="2539971"/>
          </a:xfrm>
          <a:prstGeom prst="rect">
            <a:avLst/>
          </a:prstGeom>
        </p:spPr>
      </p:pic>
      <p:pic>
        <p:nvPicPr>
          <p:cNvPr id="11" name="Imagen 10">
            <a:extLst>
              <a:ext uri="{FF2B5EF4-FFF2-40B4-BE49-F238E27FC236}">
                <a16:creationId xmlns:a16="http://schemas.microsoft.com/office/drawing/2014/main" id="{0BFA0D37-A344-100C-E892-74505652D245}"/>
              </a:ext>
            </a:extLst>
          </p:cNvPr>
          <p:cNvPicPr>
            <a:picLocks noChangeAspect="1"/>
          </p:cNvPicPr>
          <p:nvPr/>
        </p:nvPicPr>
        <p:blipFill>
          <a:blip r:embed="rId6"/>
          <a:stretch>
            <a:fillRect/>
          </a:stretch>
        </p:blipFill>
        <p:spPr>
          <a:xfrm>
            <a:off x="5932788" y="4367464"/>
            <a:ext cx="5221136" cy="2386577"/>
          </a:xfrm>
          <a:prstGeom prst="rect">
            <a:avLst/>
          </a:prstGeom>
        </p:spPr>
      </p:pic>
      <p:sp>
        <p:nvSpPr>
          <p:cNvPr id="17" name="CuadroTexto 16">
            <a:extLst>
              <a:ext uri="{FF2B5EF4-FFF2-40B4-BE49-F238E27FC236}">
                <a16:creationId xmlns:a16="http://schemas.microsoft.com/office/drawing/2014/main" id="{9D11AC43-A055-B7CC-95AE-32DFDE71EA1F}"/>
              </a:ext>
            </a:extLst>
          </p:cNvPr>
          <p:cNvSpPr txBox="1"/>
          <p:nvPr/>
        </p:nvSpPr>
        <p:spPr>
          <a:xfrm>
            <a:off x="113289" y="103959"/>
            <a:ext cx="11638999" cy="1077218"/>
          </a:xfrm>
          <a:prstGeom prst="rect">
            <a:avLst/>
          </a:prstGeom>
          <a:noFill/>
        </p:spPr>
        <p:txBody>
          <a:bodyPr wrap="square">
            <a:spAutoFit/>
          </a:bodyPr>
          <a:lstStyle/>
          <a:p>
            <a:pPr lvl="0">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6. En la sesión del </a:t>
            </a:r>
            <a:r>
              <a:rPr lang="es-MX" sz="1600" b="1" kern="100" dirty="0">
                <a:effectLst/>
                <a:latin typeface="+mn-lt"/>
                <a:ea typeface="Calibri" panose="020F0502020204030204" pitchFamily="34" charset="0"/>
                <a:cs typeface="Times New Roman" panose="02020603050405020304" pitchFamily="18" charset="0"/>
              </a:rPr>
              <a:t>OPERADOR PRINCIPAL DE PERU</a:t>
            </a:r>
            <a:r>
              <a:rPr lang="es-MX" sz="1600" kern="100" dirty="0">
                <a:effectLst/>
                <a:latin typeface="+mn-lt"/>
                <a:ea typeface="Calibri" panose="020F0502020204030204" pitchFamily="34" charset="0"/>
                <a:cs typeface="Times New Roman" panose="02020603050405020304" pitchFamily="18" charset="0"/>
              </a:rPr>
              <a:t>, dentro del Menú que se ubica en la parte inferior, encontrará </a:t>
            </a:r>
            <a:r>
              <a:rPr lang="es-MX" sz="1600" b="1" kern="100" dirty="0">
                <a:effectLst/>
                <a:latin typeface="+mn-lt"/>
                <a:ea typeface="Calibri" panose="020F0502020204030204" pitchFamily="34" charset="0"/>
                <a:cs typeface="Times New Roman" panose="02020603050405020304" pitchFamily="18" charset="0"/>
              </a:rPr>
              <a:t>CLIENTES</a:t>
            </a:r>
            <a:r>
              <a:rPr lang="es-MX" sz="1600" kern="100" dirty="0">
                <a:effectLst/>
                <a:latin typeface="+mn-lt"/>
                <a:ea typeface="Calibri" panose="020F0502020204030204" pitchFamily="34" charset="0"/>
                <a:cs typeface="Times New Roman" panose="02020603050405020304" pitchFamily="18" charset="0"/>
              </a:rPr>
              <a:t>, podrá invitar  a tus clientes compartiendo una </a:t>
            </a:r>
            <a:r>
              <a:rPr lang="es-MX" sz="1600" kern="100" dirty="0">
                <a:ea typeface="Calibri" panose="020F0502020204030204" pitchFamily="34" charset="0"/>
                <a:cs typeface="Times New Roman" panose="02020603050405020304" pitchFamily="18" charset="0"/>
              </a:rPr>
              <a:t>L</a:t>
            </a:r>
            <a:r>
              <a:rPr lang="es-MX" sz="1600" kern="100" dirty="0">
                <a:effectLst/>
                <a:latin typeface="+mn-lt"/>
                <a:ea typeface="Calibri" panose="020F0502020204030204" pitchFamily="34" charset="0"/>
                <a:cs typeface="Times New Roman" panose="02020603050405020304" pitchFamily="18" charset="0"/>
              </a:rPr>
              <a:t>anding page (</a:t>
            </a:r>
            <a:r>
              <a:rPr lang="es-MX" sz="1600" u="sng" kern="100" dirty="0">
                <a:solidFill>
                  <a:schemeClr val="tx1"/>
                </a:solidFill>
                <a:effectLst/>
                <a:latin typeface="+mn-lt"/>
                <a:ea typeface="Calibri" panose="020F0502020204030204" pitchFamily="34" charset="0"/>
                <a:cs typeface="Times New Roman" panose="02020603050405020304" pitchFamily="18" charset="0"/>
                <a:hlinkClick r:id="rId7"/>
              </a:rPr>
              <a:t>https://remesas-envioya.vercel.app</a:t>
            </a:r>
            <a:r>
              <a:rPr lang="es-MX" sz="1600" kern="100" dirty="0">
                <a:effectLst/>
                <a:latin typeface="+mn-lt"/>
                <a:ea typeface="Calibri" panose="020F0502020204030204" pitchFamily="34" charset="0"/>
                <a:cs typeface="Times New Roman" panose="02020603050405020304" pitchFamily="18" charset="0"/>
              </a:rPr>
              <a:t>  )con tu cliente por WhatsApp incluido un mensaje de bienvenida y un enlace que dirige al nuevo cliente a la Landing page. Aquí el nuevo cliente podrá acceder a la sesión usando un correo Gmail válido y con su respectiva contraseña propia. Finalmente visualizará sus clientes registrados con todos sus datos.</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5161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CCE48-F891-C17E-1479-CC6E3C61FBF2}"/>
            </a:ext>
          </a:extLst>
        </p:cNvPr>
        <p:cNvGrpSpPr/>
        <p:nvPr/>
      </p:nvGrpSpPr>
      <p:grpSpPr>
        <a:xfrm>
          <a:off x="0" y="0"/>
          <a:ext cx="0" cy="0"/>
          <a:chOff x="0" y="0"/>
          <a:chExt cx="0" cy="0"/>
        </a:xfrm>
      </p:grpSpPr>
      <p:sp>
        <p:nvSpPr>
          <p:cNvPr id="17" name="CuadroTexto 16">
            <a:extLst>
              <a:ext uri="{FF2B5EF4-FFF2-40B4-BE49-F238E27FC236}">
                <a16:creationId xmlns:a16="http://schemas.microsoft.com/office/drawing/2014/main" id="{1C4C0755-946A-6B30-F482-4E10E48556A3}"/>
              </a:ext>
            </a:extLst>
          </p:cNvPr>
          <p:cNvSpPr txBox="1"/>
          <p:nvPr/>
        </p:nvSpPr>
        <p:spPr>
          <a:xfrm>
            <a:off x="113289" y="103959"/>
            <a:ext cx="11822037" cy="1815882"/>
          </a:xfrm>
          <a:prstGeom prst="rect">
            <a:avLst/>
          </a:prstGeom>
          <a:noFill/>
        </p:spPr>
        <p:txBody>
          <a:bodyPr wrap="square">
            <a:spAutoFit/>
          </a:bodyPr>
          <a:lstStyle/>
          <a:p>
            <a:pPr lvl="0" algn="just">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6. En la sesión del </a:t>
            </a:r>
            <a:r>
              <a:rPr lang="es-MX" sz="1600" b="1" kern="100" dirty="0">
                <a:effectLst/>
                <a:latin typeface="+mn-lt"/>
                <a:ea typeface="Calibri" panose="020F0502020204030204" pitchFamily="34" charset="0"/>
                <a:cs typeface="Times New Roman" panose="02020603050405020304" pitchFamily="18" charset="0"/>
              </a:rPr>
              <a:t>OPERADOR PRINCIPAL DE PERU</a:t>
            </a:r>
            <a:r>
              <a:rPr lang="es-MX" sz="1600" kern="100" dirty="0">
                <a:effectLst/>
                <a:latin typeface="+mn-lt"/>
                <a:ea typeface="Calibri" panose="020F0502020204030204" pitchFamily="34" charset="0"/>
                <a:cs typeface="Times New Roman" panose="02020603050405020304" pitchFamily="18" charset="0"/>
              </a:rPr>
              <a:t>, dentro del Menú que se ubica en la parte inferior, encontrará </a:t>
            </a:r>
            <a:r>
              <a:rPr lang="es-MX" sz="1600" b="1" kern="100" dirty="0">
                <a:effectLst/>
                <a:latin typeface="+mn-lt"/>
                <a:ea typeface="Calibri" panose="020F0502020204030204" pitchFamily="34" charset="0"/>
                <a:cs typeface="Times New Roman" panose="02020603050405020304" pitchFamily="18" charset="0"/>
              </a:rPr>
              <a:t>CLIENTES</a:t>
            </a:r>
            <a:r>
              <a:rPr lang="es-MX" sz="1600" kern="100" dirty="0">
                <a:effectLst/>
                <a:latin typeface="+mn-lt"/>
                <a:ea typeface="Calibri" panose="020F0502020204030204" pitchFamily="34" charset="0"/>
                <a:cs typeface="Times New Roman" panose="02020603050405020304" pitchFamily="18" charset="0"/>
              </a:rPr>
              <a:t>, podrá invitar  a tus clientes compartiendo una </a:t>
            </a:r>
            <a:r>
              <a:rPr lang="es-MX" sz="1600" kern="100" dirty="0">
                <a:ea typeface="Calibri" panose="020F0502020204030204" pitchFamily="34" charset="0"/>
                <a:cs typeface="Times New Roman" panose="02020603050405020304" pitchFamily="18" charset="0"/>
              </a:rPr>
              <a:t>L</a:t>
            </a:r>
            <a:r>
              <a:rPr lang="es-MX" sz="1600" kern="100" dirty="0">
                <a:effectLst/>
                <a:latin typeface="+mn-lt"/>
                <a:ea typeface="Calibri" panose="020F0502020204030204" pitchFamily="34" charset="0"/>
                <a:cs typeface="Times New Roman" panose="02020603050405020304" pitchFamily="18" charset="0"/>
              </a:rPr>
              <a:t>anding page (</a:t>
            </a:r>
            <a:r>
              <a:rPr lang="es-MX" sz="1600" u="sng" kern="100" dirty="0">
                <a:solidFill>
                  <a:schemeClr val="tx1"/>
                </a:solidFill>
                <a:effectLst/>
                <a:latin typeface="+mn-lt"/>
                <a:ea typeface="Calibri" panose="020F0502020204030204" pitchFamily="34" charset="0"/>
                <a:cs typeface="Times New Roman" panose="02020603050405020304" pitchFamily="18" charset="0"/>
                <a:hlinkClick r:id="rId2"/>
              </a:rPr>
              <a:t>https://remesas-envioya.vercel.app</a:t>
            </a:r>
            <a:r>
              <a:rPr lang="es-MX" sz="1600" kern="100" dirty="0">
                <a:effectLst/>
                <a:latin typeface="+mn-lt"/>
                <a:ea typeface="Calibri" panose="020F0502020204030204" pitchFamily="34" charset="0"/>
                <a:cs typeface="Times New Roman" panose="02020603050405020304" pitchFamily="18" charset="0"/>
              </a:rPr>
              <a:t>  )con tu cliente por WhatsApp incluido un mensaje de bienvenida y un enlace que dirige al nuevo cliente a la Landing page. Aquí el nuevo cliente podrá acceder a la sesión usando un correo Gmail válido y con su respectiva contraseña propia. También podrá visualizar Cupo de clientes según su plan (STARTEER HASTA 100 Clientes, PRO hasta 200 Clientes, EXPERT hasta 400 Clientes, AVANCE hasta 600 Clientes, ULTRA hasta 1,000 Clientes, UNLIMITED en acuerdo con el Administrador. Finalmente, visualizará sus clientes registrados con todos sus datos inclusive si requiere derivarlo a algún operador de Perú miembro para que sea atendido pro su equipo en Perú.</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Imagen 3">
            <a:extLst>
              <a:ext uri="{FF2B5EF4-FFF2-40B4-BE49-F238E27FC236}">
                <a16:creationId xmlns:a16="http://schemas.microsoft.com/office/drawing/2014/main" id="{CF6BA470-D4A8-2EB1-81AD-30AFE08AB0DA}"/>
              </a:ext>
            </a:extLst>
          </p:cNvPr>
          <p:cNvPicPr>
            <a:picLocks noChangeAspect="1"/>
          </p:cNvPicPr>
          <p:nvPr/>
        </p:nvPicPr>
        <p:blipFill>
          <a:blip r:embed="rId3"/>
          <a:stretch>
            <a:fillRect/>
          </a:stretch>
        </p:blipFill>
        <p:spPr>
          <a:xfrm>
            <a:off x="1047045" y="1919841"/>
            <a:ext cx="10097909" cy="4706007"/>
          </a:xfrm>
          <a:prstGeom prst="rect">
            <a:avLst/>
          </a:prstGeom>
        </p:spPr>
      </p:pic>
    </p:spTree>
    <p:extLst>
      <p:ext uri="{BB962C8B-B14F-4D97-AF65-F5344CB8AC3E}">
        <p14:creationId xmlns:p14="http://schemas.microsoft.com/office/powerpoint/2010/main" val="2469950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B5E6E-9FDA-BC95-E613-CF514676B7A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C420CC3-5556-97FE-75E2-AD255A3118AF}"/>
              </a:ext>
            </a:extLst>
          </p:cNvPr>
          <p:cNvSpPr txBox="1"/>
          <p:nvPr/>
        </p:nvSpPr>
        <p:spPr>
          <a:xfrm>
            <a:off x="229224" y="0"/>
            <a:ext cx="11733551" cy="2554545"/>
          </a:xfrm>
          <a:prstGeom prst="rect">
            <a:avLst/>
          </a:prstGeom>
          <a:noFill/>
        </p:spPr>
        <p:txBody>
          <a:bodyPr wrap="square">
            <a:spAutoFit/>
          </a:bodyPr>
          <a:lstStyle/>
          <a:p>
            <a:pPr lvl="0">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7. En la sesión del </a:t>
            </a:r>
            <a:r>
              <a:rPr lang="es-MX" sz="1600" b="1" kern="100" dirty="0">
                <a:effectLst/>
                <a:latin typeface="+mn-lt"/>
                <a:ea typeface="Calibri" panose="020F0502020204030204" pitchFamily="34" charset="0"/>
                <a:cs typeface="Times New Roman" panose="02020603050405020304" pitchFamily="18" charset="0"/>
              </a:rPr>
              <a:t>OPERADOR PRINCIPAL DE PERU</a:t>
            </a:r>
            <a:r>
              <a:rPr lang="es-MX" sz="1600" kern="100" dirty="0">
                <a:effectLst/>
                <a:latin typeface="+mn-lt"/>
                <a:ea typeface="Calibri" panose="020F0502020204030204" pitchFamily="34" charset="0"/>
                <a:cs typeface="Times New Roman" panose="02020603050405020304" pitchFamily="18" charset="0"/>
              </a:rPr>
              <a:t>, dentro del Menú que se ubica en la parte inferior, encontrará </a:t>
            </a:r>
            <a:r>
              <a:rPr lang="es-MX" sz="1600" b="1" kern="100" dirty="0">
                <a:effectLst/>
                <a:latin typeface="+mn-lt"/>
                <a:ea typeface="Calibri" panose="020F0502020204030204" pitchFamily="34" charset="0"/>
                <a:cs typeface="Times New Roman" panose="02020603050405020304" pitchFamily="18" charset="0"/>
              </a:rPr>
              <a:t>PERFIL</a:t>
            </a:r>
            <a:r>
              <a:rPr lang="es-MX" sz="1600" kern="100" dirty="0">
                <a:effectLst/>
                <a:latin typeface="+mn-lt"/>
                <a:ea typeface="Calibri" panose="020F0502020204030204" pitchFamily="34" charset="0"/>
                <a:cs typeface="Times New Roman" panose="02020603050405020304" pitchFamily="18" charset="0"/>
              </a:rPr>
              <a:t>, donde podrá visualizar su rol,  datos (nombre, correo y teléfono), Plan actual con su fecha de vencimiento, próxima meta de acuerdo al plan actual, </a:t>
            </a:r>
            <a:r>
              <a:rPr lang="es-MX" sz="1600" kern="100" dirty="0" err="1">
                <a:effectLst/>
                <a:latin typeface="+mn-lt"/>
                <a:ea typeface="Calibri" panose="020F0502020204030204" pitchFamily="34" charset="0"/>
                <a:cs typeface="Times New Roman" panose="02020603050405020304" pitchFamily="18" charset="0"/>
              </a:rPr>
              <a:t>info</a:t>
            </a:r>
            <a:r>
              <a:rPr lang="es-MX" sz="1600" kern="100" dirty="0">
                <a:effectLst/>
                <a:latin typeface="+mn-lt"/>
                <a:ea typeface="Calibri" panose="020F0502020204030204" pitchFamily="34" charset="0"/>
                <a:cs typeface="Times New Roman" panose="02020603050405020304" pitchFamily="18" charset="0"/>
              </a:rPr>
              <a:t> de todos los planes, su equipo de operadores de Venezuela y Perú con todos sus datos (nombre, teléfono, correo, comisión asignable  y editable, operador asignado Perú/Venezuela sea el caso y tasa del día </a:t>
            </a:r>
            <a:r>
              <a:rPr lang="es-MX" sz="1600" kern="100" dirty="0">
                <a:ea typeface="Calibri" panose="020F0502020204030204" pitchFamily="34" charset="0"/>
                <a:cs typeface="Times New Roman" panose="02020603050405020304" pitchFamily="18" charset="0"/>
              </a:rPr>
              <a:t>modificable</a:t>
            </a:r>
            <a:r>
              <a:rPr lang="es-MX" sz="1600" kern="100" dirty="0">
                <a:effectLst/>
                <a:latin typeface="+mn-lt"/>
                <a:ea typeface="Calibri" panose="020F0502020204030204" pitchFamily="34" charset="0"/>
                <a:cs typeface="Times New Roman" panose="02020603050405020304" pitchFamily="18" charset="0"/>
              </a:rPr>
              <a:t> para ser edita por el operador (Perú) para poder registrar para su acceso y su gestión con sus clientes. También podrá visualizar Cupo de clientes según su plan (STARTEER HASTA 100 Clientes, PRO hasta 200 Clientes, EXPERT hasta 400 Clientes, AVANCE hasta 600 Clientes, ULTRA hasta 1,000 Clientes, UNLIMITED en acuerdo con el Administrador. Para sus operadores de Perú miembro podrá visualizar sus clientes respectivos con sus datos. Este registro de clientes queda guardado en la base de datos en caso de cambio del operador en Perú. Incluye Botón de editar Datos del negocio para cambiar la </a:t>
            </a:r>
            <a:r>
              <a:rPr lang="es-MX" sz="1600" kern="100" dirty="0" err="1">
                <a:effectLst/>
                <a:latin typeface="+mn-lt"/>
                <a:ea typeface="Calibri" panose="020F0502020204030204" pitchFamily="34" charset="0"/>
                <a:cs typeface="Times New Roman" panose="02020603050405020304" pitchFamily="18" charset="0"/>
              </a:rPr>
              <a:t>info</a:t>
            </a:r>
            <a:r>
              <a:rPr lang="es-MX" sz="1600" kern="100" dirty="0">
                <a:effectLst/>
                <a:latin typeface="+mn-lt"/>
                <a:ea typeface="Calibri" panose="020F0502020204030204" pitchFamily="34" charset="0"/>
                <a:cs typeface="Times New Roman" panose="02020603050405020304" pitchFamily="18" charset="0"/>
              </a:rPr>
              <a:t> del mismo e Editar datos del negocio e </a:t>
            </a:r>
            <a:r>
              <a:rPr lang="es-MX" sz="1600" kern="100" dirty="0" err="1">
                <a:effectLst/>
                <a:latin typeface="+mn-lt"/>
                <a:ea typeface="Calibri" panose="020F0502020204030204" pitchFamily="34" charset="0"/>
                <a:cs typeface="Times New Roman" panose="02020603050405020304" pitchFamily="18" charset="0"/>
              </a:rPr>
              <a:t>info</a:t>
            </a:r>
            <a:r>
              <a:rPr lang="es-MX" sz="1600" kern="100" dirty="0">
                <a:effectLst/>
                <a:latin typeface="+mn-lt"/>
                <a:ea typeface="Calibri" panose="020F0502020204030204" pitchFamily="34" charset="0"/>
                <a:cs typeface="Times New Roman" panose="02020603050405020304" pitchFamily="18" charset="0"/>
              </a:rPr>
              <a:t> para Instalar la app en el celular y verlo con un botón de acceso directo en el móvil con opción a enviar por WhatsApp/</a:t>
            </a:r>
            <a:r>
              <a:rPr lang="es-MX" sz="1600" kern="100" dirty="0" err="1">
                <a:effectLst/>
                <a:latin typeface="+mn-lt"/>
                <a:ea typeface="Calibri" panose="020F0502020204030204" pitchFamily="34" charset="0"/>
                <a:cs typeface="Times New Roman" panose="02020603050405020304" pitchFamily="18" charset="0"/>
              </a:rPr>
              <a:t>Telegram</a:t>
            </a:r>
            <a:r>
              <a:rPr lang="es-MX" sz="1600" kern="100" dirty="0">
                <a:effectLst/>
                <a:latin typeface="+mn-lt"/>
                <a:ea typeface="Calibri" panose="020F0502020204030204" pitchFamily="34" charset="0"/>
                <a:cs typeface="Times New Roman" panose="02020603050405020304" pitchFamily="18" charset="0"/>
              </a:rPr>
              <a:t> al cliente.</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D4AF9718-D28B-5E24-B76A-5FBA078EE561}"/>
              </a:ext>
            </a:extLst>
          </p:cNvPr>
          <p:cNvPicPr>
            <a:picLocks noChangeAspect="1"/>
          </p:cNvPicPr>
          <p:nvPr/>
        </p:nvPicPr>
        <p:blipFill>
          <a:blip r:embed="rId2"/>
          <a:stretch>
            <a:fillRect/>
          </a:stretch>
        </p:blipFill>
        <p:spPr>
          <a:xfrm>
            <a:off x="229224" y="2803911"/>
            <a:ext cx="4083469" cy="3456703"/>
          </a:xfrm>
          <a:prstGeom prst="rect">
            <a:avLst/>
          </a:prstGeom>
        </p:spPr>
      </p:pic>
      <p:pic>
        <p:nvPicPr>
          <p:cNvPr id="9" name="Imagen 8">
            <a:extLst>
              <a:ext uri="{FF2B5EF4-FFF2-40B4-BE49-F238E27FC236}">
                <a16:creationId xmlns:a16="http://schemas.microsoft.com/office/drawing/2014/main" id="{BFF87F6F-A3C7-987B-5E3F-97168FD7C45D}"/>
              </a:ext>
            </a:extLst>
          </p:cNvPr>
          <p:cNvPicPr>
            <a:picLocks noChangeAspect="1"/>
          </p:cNvPicPr>
          <p:nvPr/>
        </p:nvPicPr>
        <p:blipFill>
          <a:blip r:embed="rId3"/>
          <a:stretch>
            <a:fillRect/>
          </a:stretch>
        </p:blipFill>
        <p:spPr>
          <a:xfrm>
            <a:off x="4435114" y="2803911"/>
            <a:ext cx="3644361" cy="3456703"/>
          </a:xfrm>
          <a:prstGeom prst="rect">
            <a:avLst/>
          </a:prstGeom>
        </p:spPr>
      </p:pic>
      <p:pic>
        <p:nvPicPr>
          <p:cNvPr id="15" name="Imagen 14">
            <a:extLst>
              <a:ext uri="{FF2B5EF4-FFF2-40B4-BE49-F238E27FC236}">
                <a16:creationId xmlns:a16="http://schemas.microsoft.com/office/drawing/2014/main" id="{2A7EA535-EB23-34D6-0827-7A81CFBAAC6F}"/>
              </a:ext>
            </a:extLst>
          </p:cNvPr>
          <p:cNvPicPr>
            <a:picLocks noChangeAspect="1"/>
          </p:cNvPicPr>
          <p:nvPr/>
        </p:nvPicPr>
        <p:blipFill>
          <a:blip r:embed="rId4"/>
          <a:stretch>
            <a:fillRect/>
          </a:stretch>
        </p:blipFill>
        <p:spPr>
          <a:xfrm>
            <a:off x="8236094" y="2358188"/>
            <a:ext cx="3570062" cy="4151793"/>
          </a:xfrm>
          <a:prstGeom prst="rect">
            <a:avLst/>
          </a:prstGeom>
        </p:spPr>
      </p:pic>
    </p:spTree>
    <p:extLst>
      <p:ext uri="{BB962C8B-B14F-4D97-AF65-F5344CB8AC3E}">
        <p14:creationId xmlns:p14="http://schemas.microsoft.com/office/powerpoint/2010/main" val="593430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011F5-98B2-8803-ABF4-EEA8D0E88C08}"/>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449C9188-72AF-C88E-C23B-850F82108136}"/>
              </a:ext>
            </a:extLst>
          </p:cNvPr>
          <p:cNvSpPr txBox="1"/>
          <p:nvPr/>
        </p:nvSpPr>
        <p:spPr>
          <a:xfrm>
            <a:off x="229224" y="213254"/>
            <a:ext cx="11733551" cy="2062103"/>
          </a:xfrm>
          <a:prstGeom prst="rect">
            <a:avLst/>
          </a:prstGeom>
          <a:noFill/>
        </p:spPr>
        <p:txBody>
          <a:bodyPr wrap="square">
            <a:spAutoFit/>
          </a:bodyPr>
          <a:lstStyle/>
          <a:p>
            <a:pPr lvl="0">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7. En la sesión del </a:t>
            </a:r>
            <a:r>
              <a:rPr lang="es-MX" sz="1600" b="1" kern="100" dirty="0">
                <a:effectLst/>
                <a:latin typeface="+mn-lt"/>
                <a:ea typeface="Calibri" panose="020F0502020204030204" pitchFamily="34" charset="0"/>
                <a:cs typeface="Times New Roman" panose="02020603050405020304" pitchFamily="18" charset="0"/>
              </a:rPr>
              <a:t>OPERADOR PRINCIPAL DE PERU</a:t>
            </a:r>
            <a:r>
              <a:rPr lang="es-MX" sz="1600" kern="100" dirty="0">
                <a:effectLst/>
                <a:latin typeface="+mn-lt"/>
                <a:ea typeface="Calibri" panose="020F0502020204030204" pitchFamily="34" charset="0"/>
                <a:cs typeface="Times New Roman" panose="02020603050405020304" pitchFamily="18" charset="0"/>
              </a:rPr>
              <a:t>, dentro del Menú que se ubica en la parte inferior, encontrará </a:t>
            </a:r>
            <a:r>
              <a:rPr lang="es-MX" sz="1600" b="1" kern="100" dirty="0">
                <a:effectLst/>
                <a:latin typeface="+mn-lt"/>
                <a:ea typeface="Calibri" panose="020F0502020204030204" pitchFamily="34" charset="0"/>
                <a:cs typeface="Times New Roman" panose="02020603050405020304" pitchFamily="18" charset="0"/>
              </a:rPr>
              <a:t>PERFIL</a:t>
            </a:r>
            <a:r>
              <a:rPr lang="es-MX" sz="1600" kern="100" dirty="0">
                <a:effectLst/>
                <a:latin typeface="+mn-lt"/>
                <a:ea typeface="Calibri" panose="020F0502020204030204" pitchFamily="34" charset="0"/>
                <a:cs typeface="Times New Roman" panose="02020603050405020304" pitchFamily="18" charset="0"/>
              </a:rPr>
              <a:t>, donde podrá visualizar su rol,  datos (nombre, correo y teléfono), Plan actual con su fecha de vencimiento, próxima meta de acuerdo al plan actual, </a:t>
            </a:r>
            <a:r>
              <a:rPr lang="es-MX" sz="1600" kern="100" dirty="0" err="1">
                <a:effectLst/>
                <a:latin typeface="+mn-lt"/>
                <a:ea typeface="Calibri" panose="020F0502020204030204" pitchFamily="34" charset="0"/>
                <a:cs typeface="Times New Roman" panose="02020603050405020304" pitchFamily="18" charset="0"/>
              </a:rPr>
              <a:t>info</a:t>
            </a:r>
            <a:r>
              <a:rPr lang="es-MX" sz="1600" kern="100" dirty="0">
                <a:effectLst/>
                <a:latin typeface="+mn-lt"/>
                <a:ea typeface="Calibri" panose="020F0502020204030204" pitchFamily="34" charset="0"/>
                <a:cs typeface="Times New Roman" panose="02020603050405020304" pitchFamily="18" charset="0"/>
              </a:rPr>
              <a:t> de todos los planes, su equipo de operadores de Venezuela y Perú con todos sus datos (nombre, teléfono, correo, comisión asignable  y editable, operador asignado Perú/Venezuela sea el caso y tasa del día modificable para ser edita por el operador (Perú) para poder registrar para su acceso y su gestión con sus clientes. Para sus operadores de Perú miembro podrá visualizar sus clientes respectivos con sus datos. Este registro de clientes queda guardado en la base de datos en caso de cambio del operador en Perú. Incluye Botón de editar Datos del negocio para cambiar la </a:t>
            </a:r>
            <a:r>
              <a:rPr lang="es-MX" sz="1600" kern="100" dirty="0" err="1">
                <a:effectLst/>
                <a:latin typeface="+mn-lt"/>
                <a:ea typeface="Calibri" panose="020F0502020204030204" pitchFamily="34" charset="0"/>
                <a:cs typeface="Times New Roman" panose="02020603050405020304" pitchFamily="18" charset="0"/>
              </a:rPr>
              <a:t>info</a:t>
            </a:r>
            <a:r>
              <a:rPr lang="es-MX" sz="1600" kern="100" dirty="0">
                <a:effectLst/>
                <a:latin typeface="+mn-lt"/>
                <a:ea typeface="Calibri" panose="020F0502020204030204" pitchFamily="34" charset="0"/>
                <a:cs typeface="Times New Roman" panose="02020603050405020304" pitchFamily="18" charset="0"/>
              </a:rPr>
              <a:t> del mismo e Editar datos del negocio e </a:t>
            </a:r>
            <a:r>
              <a:rPr lang="es-MX" sz="1600" kern="100" dirty="0" err="1">
                <a:effectLst/>
                <a:latin typeface="+mn-lt"/>
                <a:ea typeface="Calibri" panose="020F0502020204030204" pitchFamily="34" charset="0"/>
                <a:cs typeface="Times New Roman" panose="02020603050405020304" pitchFamily="18" charset="0"/>
              </a:rPr>
              <a:t>info</a:t>
            </a:r>
            <a:r>
              <a:rPr lang="es-MX" sz="1600" kern="100" dirty="0">
                <a:effectLst/>
                <a:latin typeface="+mn-lt"/>
                <a:ea typeface="Calibri" panose="020F0502020204030204" pitchFamily="34" charset="0"/>
                <a:cs typeface="Times New Roman" panose="02020603050405020304" pitchFamily="18" charset="0"/>
              </a:rPr>
              <a:t> para Instalar la app en el celular y verlo con un botón de acceso directo en el móvil con opción a enviar por WhatsApp/</a:t>
            </a:r>
            <a:r>
              <a:rPr lang="es-MX" sz="1600" kern="100" dirty="0" err="1">
                <a:effectLst/>
                <a:latin typeface="+mn-lt"/>
                <a:ea typeface="Calibri" panose="020F0502020204030204" pitchFamily="34" charset="0"/>
                <a:cs typeface="Times New Roman" panose="02020603050405020304" pitchFamily="18" charset="0"/>
              </a:rPr>
              <a:t>Telegram</a:t>
            </a:r>
            <a:r>
              <a:rPr lang="es-MX" sz="1600" kern="100" dirty="0">
                <a:effectLst/>
                <a:latin typeface="+mn-lt"/>
                <a:ea typeface="Calibri" panose="020F0502020204030204" pitchFamily="34" charset="0"/>
                <a:cs typeface="Times New Roman" panose="02020603050405020304" pitchFamily="18" charset="0"/>
              </a:rPr>
              <a:t> al cliente.</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n 6">
            <a:extLst>
              <a:ext uri="{FF2B5EF4-FFF2-40B4-BE49-F238E27FC236}">
                <a16:creationId xmlns:a16="http://schemas.microsoft.com/office/drawing/2014/main" id="{CA7E9E0C-85A3-2158-A8EC-9B9C3364985B}"/>
              </a:ext>
            </a:extLst>
          </p:cNvPr>
          <p:cNvPicPr>
            <a:picLocks noChangeAspect="1"/>
          </p:cNvPicPr>
          <p:nvPr/>
        </p:nvPicPr>
        <p:blipFill>
          <a:blip r:embed="rId2"/>
          <a:stretch>
            <a:fillRect/>
          </a:stretch>
        </p:blipFill>
        <p:spPr>
          <a:xfrm>
            <a:off x="146929" y="2464600"/>
            <a:ext cx="4083469" cy="3362994"/>
          </a:xfrm>
          <a:prstGeom prst="rect">
            <a:avLst/>
          </a:prstGeom>
        </p:spPr>
      </p:pic>
      <p:pic>
        <p:nvPicPr>
          <p:cNvPr id="11" name="Imagen 10">
            <a:extLst>
              <a:ext uri="{FF2B5EF4-FFF2-40B4-BE49-F238E27FC236}">
                <a16:creationId xmlns:a16="http://schemas.microsoft.com/office/drawing/2014/main" id="{759267CF-6626-2CE9-C4D7-33446BAB4A50}"/>
              </a:ext>
            </a:extLst>
          </p:cNvPr>
          <p:cNvPicPr>
            <a:picLocks noChangeAspect="1"/>
          </p:cNvPicPr>
          <p:nvPr/>
        </p:nvPicPr>
        <p:blipFill>
          <a:blip r:embed="rId3"/>
          <a:stretch>
            <a:fillRect/>
          </a:stretch>
        </p:blipFill>
        <p:spPr>
          <a:xfrm>
            <a:off x="8284191" y="2464600"/>
            <a:ext cx="3678584" cy="3362994"/>
          </a:xfrm>
          <a:prstGeom prst="rect">
            <a:avLst/>
          </a:prstGeom>
        </p:spPr>
      </p:pic>
      <p:pic>
        <p:nvPicPr>
          <p:cNvPr id="13" name="Imagen 12">
            <a:extLst>
              <a:ext uri="{FF2B5EF4-FFF2-40B4-BE49-F238E27FC236}">
                <a16:creationId xmlns:a16="http://schemas.microsoft.com/office/drawing/2014/main" id="{CE320318-1143-AC3F-1928-236CCED2A0B1}"/>
              </a:ext>
            </a:extLst>
          </p:cNvPr>
          <p:cNvPicPr>
            <a:picLocks noChangeAspect="1"/>
          </p:cNvPicPr>
          <p:nvPr/>
        </p:nvPicPr>
        <p:blipFill>
          <a:blip r:embed="rId4"/>
          <a:stretch>
            <a:fillRect/>
          </a:stretch>
        </p:blipFill>
        <p:spPr>
          <a:xfrm>
            <a:off x="4435114" y="2464600"/>
            <a:ext cx="3644361" cy="3362994"/>
          </a:xfrm>
          <a:prstGeom prst="rect">
            <a:avLst/>
          </a:prstGeom>
        </p:spPr>
      </p:pic>
    </p:spTree>
    <p:extLst>
      <p:ext uri="{BB962C8B-B14F-4D97-AF65-F5344CB8AC3E}">
        <p14:creationId xmlns:p14="http://schemas.microsoft.com/office/powerpoint/2010/main" val="1461870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3FE31-5211-F843-F631-9389F21A016C}"/>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2EF48201-D6CB-C153-36C7-3A835BA1CA8F}"/>
              </a:ext>
            </a:extLst>
          </p:cNvPr>
          <p:cNvPicPr>
            <a:picLocks noChangeAspect="1"/>
          </p:cNvPicPr>
          <p:nvPr/>
        </p:nvPicPr>
        <p:blipFill>
          <a:blip r:embed="rId2"/>
          <a:stretch>
            <a:fillRect/>
          </a:stretch>
        </p:blipFill>
        <p:spPr>
          <a:xfrm>
            <a:off x="5075472" y="437971"/>
            <a:ext cx="6849982" cy="5982057"/>
          </a:xfrm>
          <a:prstGeom prst="rect">
            <a:avLst/>
          </a:prstGeom>
        </p:spPr>
      </p:pic>
      <p:sp>
        <p:nvSpPr>
          <p:cNvPr id="6" name="CuadroTexto 5">
            <a:extLst>
              <a:ext uri="{FF2B5EF4-FFF2-40B4-BE49-F238E27FC236}">
                <a16:creationId xmlns:a16="http://schemas.microsoft.com/office/drawing/2014/main" id="{9137D14D-4633-9911-6476-85BB98D16F0E}"/>
              </a:ext>
            </a:extLst>
          </p:cNvPr>
          <p:cNvSpPr txBox="1"/>
          <p:nvPr/>
        </p:nvSpPr>
        <p:spPr>
          <a:xfrm>
            <a:off x="266546" y="1849683"/>
            <a:ext cx="4675137" cy="1815882"/>
          </a:xfrm>
          <a:prstGeom prst="rect">
            <a:avLst/>
          </a:prstGeom>
          <a:noFill/>
        </p:spPr>
        <p:txBody>
          <a:bodyPr wrap="square">
            <a:spAutoFit/>
          </a:bodyPr>
          <a:lstStyle/>
          <a:p>
            <a:pPr lvl="0" algn="just">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1. El </a:t>
            </a:r>
            <a:r>
              <a:rPr lang="es-MX" sz="1600" b="1" kern="100" dirty="0">
                <a:effectLst/>
                <a:latin typeface="+mn-lt"/>
                <a:ea typeface="Calibri" panose="020F0502020204030204" pitchFamily="34" charset="0"/>
                <a:cs typeface="Times New Roman" panose="02020603050405020304" pitchFamily="18" charset="0"/>
              </a:rPr>
              <a:t>OPERADOR DE PERU MIEMBRO</a:t>
            </a:r>
            <a:r>
              <a:rPr lang="es-MX" sz="1600" kern="100" dirty="0">
                <a:effectLst/>
                <a:latin typeface="+mn-lt"/>
                <a:ea typeface="Calibri" panose="020F0502020204030204" pitchFamily="34" charset="0"/>
                <a:cs typeface="Times New Roman" panose="02020603050405020304" pitchFamily="18" charset="0"/>
              </a:rPr>
              <a:t>, realiza su previo registro del nuevo operador de Perú miembro con sus datos (nombre, correo y teléfono) y le envía un mensaje por WhatsApp para la bienvenida con el enlace del aplicativo  </a:t>
            </a:r>
            <a:r>
              <a:rPr lang="es-MX" sz="1600" u="sng" kern="100" dirty="0">
                <a:solidFill>
                  <a:schemeClr val="tx1"/>
                </a:solidFill>
                <a:effectLst/>
                <a:latin typeface="+mn-lt"/>
                <a:ea typeface="Calibri" panose="020F0502020204030204" pitchFamily="34" charset="0"/>
                <a:cs typeface="Times New Roman" panose="02020603050405020304" pitchFamily="18" charset="0"/>
                <a:hlinkClick r:id="rId3"/>
              </a:rPr>
              <a:t>https://remesasia.vercel.app/</a:t>
            </a:r>
            <a:r>
              <a:rPr lang="es-MX" sz="1600" kern="100" dirty="0">
                <a:effectLst/>
                <a:latin typeface="+mn-lt"/>
                <a:ea typeface="Calibri" panose="020F0502020204030204" pitchFamily="34" charset="0"/>
                <a:cs typeface="Times New Roman" panose="02020603050405020304" pitchFamily="18" charset="0"/>
              </a:rPr>
              <a:t>  y la indicación para acceder como con su correo Gmail registrado y su propia contraseña de su correo.</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66763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7B93F-0B14-6EC2-463C-6878F244BF5D}"/>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001A2024-A323-D545-E657-4A65BE57A0C9}"/>
              </a:ext>
            </a:extLst>
          </p:cNvPr>
          <p:cNvPicPr>
            <a:picLocks noChangeAspect="1"/>
          </p:cNvPicPr>
          <p:nvPr/>
        </p:nvPicPr>
        <p:blipFill>
          <a:blip r:embed="rId2"/>
          <a:stretch>
            <a:fillRect/>
          </a:stretch>
        </p:blipFill>
        <p:spPr>
          <a:xfrm>
            <a:off x="1740622" y="1376118"/>
            <a:ext cx="7820473" cy="2810871"/>
          </a:xfrm>
          <a:prstGeom prst="rect">
            <a:avLst/>
          </a:prstGeom>
        </p:spPr>
      </p:pic>
      <p:sp>
        <p:nvSpPr>
          <p:cNvPr id="4" name="CuadroTexto 3">
            <a:extLst>
              <a:ext uri="{FF2B5EF4-FFF2-40B4-BE49-F238E27FC236}">
                <a16:creationId xmlns:a16="http://schemas.microsoft.com/office/drawing/2014/main" id="{DCC78A13-0CE5-6F54-3B33-1A5AF5F7E966}"/>
              </a:ext>
            </a:extLst>
          </p:cNvPr>
          <p:cNvSpPr txBox="1"/>
          <p:nvPr/>
        </p:nvSpPr>
        <p:spPr>
          <a:xfrm>
            <a:off x="144487" y="278238"/>
            <a:ext cx="11694587" cy="830997"/>
          </a:xfrm>
          <a:prstGeom prst="rect">
            <a:avLst/>
          </a:prstGeom>
          <a:noFill/>
        </p:spPr>
        <p:txBody>
          <a:bodyPr wrap="square">
            <a:spAutoFit/>
          </a:bodyPr>
          <a:lstStyle/>
          <a:p>
            <a:pPr lvl="0" algn="just">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1. El </a:t>
            </a:r>
            <a:r>
              <a:rPr lang="es-MX" sz="1600" b="1" kern="100" dirty="0">
                <a:effectLst/>
                <a:latin typeface="+mn-lt"/>
                <a:ea typeface="Calibri" panose="020F0502020204030204" pitchFamily="34" charset="0"/>
                <a:cs typeface="Times New Roman" panose="02020603050405020304" pitchFamily="18" charset="0"/>
              </a:rPr>
              <a:t>OPERADOR DE PERU MIEMBRO</a:t>
            </a:r>
            <a:r>
              <a:rPr lang="es-MX" sz="1600" kern="100" dirty="0">
                <a:effectLst/>
                <a:latin typeface="+mn-lt"/>
                <a:ea typeface="Calibri" panose="020F0502020204030204" pitchFamily="34" charset="0"/>
                <a:cs typeface="Times New Roman" panose="02020603050405020304" pitchFamily="18" charset="0"/>
              </a:rPr>
              <a:t>, realiza su previo registro del nuevo operador de Perú miembro con sus datos (nombre, correo y teléfono) y le envía un mensaje por WhatsApp para la bienvenida con el enlace del aplicativo  </a:t>
            </a:r>
            <a:r>
              <a:rPr lang="es-MX" sz="1600" u="sng" kern="100" dirty="0">
                <a:solidFill>
                  <a:schemeClr val="tx1"/>
                </a:solidFill>
                <a:effectLst/>
                <a:latin typeface="+mn-lt"/>
                <a:ea typeface="Calibri" panose="020F0502020204030204" pitchFamily="34" charset="0"/>
                <a:cs typeface="Times New Roman" panose="02020603050405020304" pitchFamily="18" charset="0"/>
                <a:hlinkClick r:id="rId3"/>
              </a:rPr>
              <a:t>https://remesasia.vercel.app/</a:t>
            </a:r>
            <a:r>
              <a:rPr lang="es-MX" sz="1600" kern="100" dirty="0">
                <a:effectLst/>
                <a:latin typeface="+mn-lt"/>
                <a:ea typeface="Calibri" panose="020F0502020204030204" pitchFamily="34" charset="0"/>
                <a:cs typeface="Times New Roman" panose="02020603050405020304" pitchFamily="18" charset="0"/>
              </a:rPr>
              <a:t>  y la indicación para acceder como con su correo Gmail registrado y su propia contraseña de su correo.</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Imagen 7">
            <a:extLst>
              <a:ext uri="{FF2B5EF4-FFF2-40B4-BE49-F238E27FC236}">
                <a16:creationId xmlns:a16="http://schemas.microsoft.com/office/drawing/2014/main" id="{82206289-F676-1F87-EB1F-EDF6637EB874}"/>
              </a:ext>
            </a:extLst>
          </p:cNvPr>
          <p:cNvPicPr>
            <a:picLocks noChangeAspect="1"/>
          </p:cNvPicPr>
          <p:nvPr/>
        </p:nvPicPr>
        <p:blipFill>
          <a:blip r:embed="rId4"/>
          <a:stretch>
            <a:fillRect/>
          </a:stretch>
        </p:blipFill>
        <p:spPr>
          <a:xfrm>
            <a:off x="1740622" y="4311342"/>
            <a:ext cx="7983126" cy="2341079"/>
          </a:xfrm>
          <a:prstGeom prst="rect">
            <a:avLst/>
          </a:prstGeom>
        </p:spPr>
      </p:pic>
    </p:spTree>
    <p:extLst>
      <p:ext uri="{BB962C8B-B14F-4D97-AF65-F5344CB8AC3E}">
        <p14:creationId xmlns:p14="http://schemas.microsoft.com/office/powerpoint/2010/main" val="786328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42F80-47E2-51CD-C0C5-A848B9417750}"/>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88F2AB55-8F01-427A-4C52-8A4C2DB19ED7}"/>
              </a:ext>
            </a:extLst>
          </p:cNvPr>
          <p:cNvPicPr>
            <a:picLocks noChangeAspect="1"/>
          </p:cNvPicPr>
          <p:nvPr/>
        </p:nvPicPr>
        <p:blipFill>
          <a:blip r:embed="rId2"/>
          <a:stretch>
            <a:fillRect/>
          </a:stretch>
        </p:blipFill>
        <p:spPr>
          <a:xfrm>
            <a:off x="144487" y="1299411"/>
            <a:ext cx="3817913" cy="5408688"/>
          </a:xfrm>
          <a:prstGeom prst="rect">
            <a:avLst/>
          </a:prstGeom>
        </p:spPr>
      </p:pic>
      <p:pic>
        <p:nvPicPr>
          <p:cNvPr id="15" name="Imagen 14">
            <a:extLst>
              <a:ext uri="{FF2B5EF4-FFF2-40B4-BE49-F238E27FC236}">
                <a16:creationId xmlns:a16="http://schemas.microsoft.com/office/drawing/2014/main" id="{F61FF6E6-0097-7F2F-9A09-D12BA2A84219}"/>
              </a:ext>
            </a:extLst>
          </p:cNvPr>
          <p:cNvPicPr>
            <a:picLocks noChangeAspect="1"/>
          </p:cNvPicPr>
          <p:nvPr/>
        </p:nvPicPr>
        <p:blipFill>
          <a:blip r:embed="rId3"/>
          <a:stretch>
            <a:fillRect/>
          </a:stretch>
        </p:blipFill>
        <p:spPr>
          <a:xfrm>
            <a:off x="4050926" y="2652717"/>
            <a:ext cx="3377564" cy="2769514"/>
          </a:xfrm>
          <a:prstGeom prst="rect">
            <a:avLst/>
          </a:prstGeom>
        </p:spPr>
      </p:pic>
      <p:sp>
        <p:nvSpPr>
          <p:cNvPr id="17" name="CuadroTexto 16">
            <a:extLst>
              <a:ext uri="{FF2B5EF4-FFF2-40B4-BE49-F238E27FC236}">
                <a16:creationId xmlns:a16="http://schemas.microsoft.com/office/drawing/2014/main" id="{F6089751-D1EB-8F01-F0DE-B2297221A070}"/>
              </a:ext>
            </a:extLst>
          </p:cNvPr>
          <p:cNvSpPr txBox="1"/>
          <p:nvPr/>
        </p:nvSpPr>
        <p:spPr>
          <a:xfrm>
            <a:off x="144487" y="278238"/>
            <a:ext cx="11694587" cy="830997"/>
          </a:xfrm>
          <a:prstGeom prst="rect">
            <a:avLst/>
          </a:prstGeom>
          <a:noFill/>
        </p:spPr>
        <p:txBody>
          <a:bodyPr wrap="square">
            <a:spAutoFit/>
          </a:bodyPr>
          <a:lstStyle/>
          <a:p>
            <a:pPr lvl="0" algn="just">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1. El </a:t>
            </a:r>
            <a:r>
              <a:rPr lang="es-MX" sz="1600" b="1" kern="100" dirty="0">
                <a:effectLst/>
                <a:latin typeface="+mn-lt"/>
                <a:ea typeface="Calibri" panose="020F0502020204030204" pitchFamily="34" charset="0"/>
                <a:cs typeface="Times New Roman" panose="02020603050405020304" pitchFamily="18" charset="0"/>
              </a:rPr>
              <a:t>OPERADOR DE PERU MIEMBRO</a:t>
            </a:r>
            <a:r>
              <a:rPr lang="es-MX" sz="1600" kern="100" dirty="0">
                <a:effectLst/>
                <a:latin typeface="+mn-lt"/>
                <a:ea typeface="Calibri" panose="020F0502020204030204" pitchFamily="34" charset="0"/>
                <a:cs typeface="Times New Roman" panose="02020603050405020304" pitchFamily="18" charset="0"/>
              </a:rPr>
              <a:t>, realiza su previo registro del nuevo operador de Perú miembro con sus datos (nombre, correo y teléfono) y le envía un mensaje por WhatsApp para la bienvenida con el enlace del aplicativo  </a:t>
            </a:r>
            <a:r>
              <a:rPr lang="es-MX" sz="1600" u="sng" kern="100" dirty="0">
                <a:solidFill>
                  <a:schemeClr val="tx1"/>
                </a:solidFill>
                <a:effectLst/>
                <a:latin typeface="+mn-lt"/>
                <a:ea typeface="Calibri" panose="020F0502020204030204" pitchFamily="34" charset="0"/>
                <a:cs typeface="Times New Roman" panose="02020603050405020304" pitchFamily="18" charset="0"/>
                <a:hlinkClick r:id="rId4"/>
              </a:rPr>
              <a:t>https://remesasia.vercel.app/</a:t>
            </a:r>
            <a:r>
              <a:rPr lang="es-MX" sz="1600" kern="100" dirty="0">
                <a:effectLst/>
                <a:latin typeface="+mn-lt"/>
                <a:ea typeface="Calibri" panose="020F0502020204030204" pitchFamily="34" charset="0"/>
                <a:cs typeface="Times New Roman" panose="02020603050405020304" pitchFamily="18" charset="0"/>
              </a:rPr>
              <a:t>  y la indicación para acceder como con su correo Gmail registrado y su propia contraseña de su correo.</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9" name="Imagen 18">
            <a:extLst>
              <a:ext uri="{FF2B5EF4-FFF2-40B4-BE49-F238E27FC236}">
                <a16:creationId xmlns:a16="http://schemas.microsoft.com/office/drawing/2014/main" id="{239D2898-4E44-E41D-83B2-D33F1E517004}"/>
              </a:ext>
            </a:extLst>
          </p:cNvPr>
          <p:cNvPicPr>
            <a:picLocks noChangeAspect="1"/>
          </p:cNvPicPr>
          <p:nvPr/>
        </p:nvPicPr>
        <p:blipFill>
          <a:blip r:embed="rId5"/>
          <a:stretch>
            <a:fillRect/>
          </a:stretch>
        </p:blipFill>
        <p:spPr>
          <a:xfrm>
            <a:off x="7555723" y="1299411"/>
            <a:ext cx="4491790" cy="5408688"/>
          </a:xfrm>
          <a:prstGeom prst="rect">
            <a:avLst/>
          </a:prstGeom>
        </p:spPr>
      </p:pic>
    </p:spTree>
    <p:extLst>
      <p:ext uri="{BB962C8B-B14F-4D97-AF65-F5344CB8AC3E}">
        <p14:creationId xmlns:p14="http://schemas.microsoft.com/office/powerpoint/2010/main" val="2393413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241C4-7456-83E7-8B20-3D9A7260B26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6D40DFAA-9E1F-45C1-7A92-84E5FA45D9A5}"/>
              </a:ext>
            </a:extLst>
          </p:cNvPr>
          <p:cNvPicPr>
            <a:picLocks noChangeAspect="1"/>
          </p:cNvPicPr>
          <p:nvPr/>
        </p:nvPicPr>
        <p:blipFill>
          <a:blip r:embed="rId2"/>
          <a:stretch>
            <a:fillRect/>
          </a:stretch>
        </p:blipFill>
        <p:spPr>
          <a:xfrm>
            <a:off x="4916905" y="607665"/>
            <a:ext cx="7021988" cy="5642669"/>
          </a:xfrm>
          <a:prstGeom prst="rect">
            <a:avLst/>
          </a:prstGeom>
        </p:spPr>
      </p:pic>
      <p:sp>
        <p:nvSpPr>
          <p:cNvPr id="7" name="CuadroTexto 6">
            <a:extLst>
              <a:ext uri="{FF2B5EF4-FFF2-40B4-BE49-F238E27FC236}">
                <a16:creationId xmlns:a16="http://schemas.microsoft.com/office/drawing/2014/main" id="{FFA9895B-5F3B-0343-A418-88E372C404E9}"/>
              </a:ext>
            </a:extLst>
          </p:cNvPr>
          <p:cNvSpPr txBox="1"/>
          <p:nvPr/>
        </p:nvSpPr>
        <p:spPr>
          <a:xfrm>
            <a:off x="425116" y="1684420"/>
            <a:ext cx="4355432" cy="3046988"/>
          </a:xfrm>
          <a:prstGeom prst="rect">
            <a:avLst/>
          </a:prstGeom>
          <a:noFill/>
        </p:spPr>
        <p:txBody>
          <a:bodyPr wrap="square">
            <a:spAutoFit/>
          </a:bodyPr>
          <a:lstStyle/>
          <a:p>
            <a:pPr algn="just">
              <a:spcAft>
                <a:spcPts val="800"/>
              </a:spcAft>
            </a:pPr>
            <a:r>
              <a:rPr lang="es-MX" sz="1600" kern="100" dirty="0">
                <a:effectLst/>
                <a:latin typeface="+mn-lt"/>
                <a:ea typeface="Calibri" panose="020F0502020204030204" pitchFamily="34" charset="0"/>
                <a:cs typeface="Times New Roman" panose="02020603050405020304" pitchFamily="18" charset="0"/>
              </a:rPr>
              <a:t>2. </a:t>
            </a:r>
            <a:r>
              <a:rPr lang="es-MX" sz="1600" dirty="0"/>
              <a:t>En su sesión </a:t>
            </a:r>
            <a:r>
              <a:rPr lang="es-MX" sz="1600" b="1" dirty="0"/>
              <a:t>OPERADOR DE PERU MIEMBRO</a:t>
            </a:r>
            <a:r>
              <a:rPr lang="es-MX" sz="1600" dirty="0"/>
              <a:t>, en Menú que se ubica en la parte inferior, encontrará </a:t>
            </a:r>
            <a:r>
              <a:rPr lang="es-MX" sz="1600" b="1" dirty="0"/>
              <a:t>PANEL</a:t>
            </a:r>
            <a:r>
              <a:rPr lang="es-MX" sz="1600" dirty="0"/>
              <a:t>, podrá visualizar mensaje de bienvenida con su nombre, eslogan y Horario de atención colocado por el OPERADOR PRINCIPAL DE PERU así como la Tasa del día del Operador principal (Soles → Bolívares), Horario de atención y Mi propia Tasa del día (aplica solo a mis clientes) editable por el mismo operador, Operaciones en curso, realizadas y por revisar en tiempo real, Mi comisión (hoy): Monto total de mis operaciones y Comisión ganada en PEN</a:t>
            </a:r>
            <a:r>
              <a:rPr lang="es-MX" sz="1600" kern="100" dirty="0">
                <a:effectLst/>
                <a:latin typeface="+mn-lt"/>
                <a:ea typeface="Calibri" panose="020F0502020204030204" pitchFamily="34" charset="0"/>
                <a:cs typeface="Times New Roman" panose="02020603050405020304" pitchFamily="18" charset="0"/>
              </a:rPr>
              <a:t>.</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91823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94156-8309-A2AC-3030-164067896517}"/>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B06514C4-16BE-17DA-9DC4-00E85EA99925}"/>
              </a:ext>
            </a:extLst>
          </p:cNvPr>
          <p:cNvSpPr txBox="1"/>
          <p:nvPr/>
        </p:nvSpPr>
        <p:spPr>
          <a:xfrm>
            <a:off x="505326" y="299869"/>
            <a:ext cx="11181347" cy="1918474"/>
          </a:xfrm>
          <a:prstGeom prst="rect">
            <a:avLst/>
          </a:prstGeom>
          <a:noFill/>
        </p:spPr>
        <p:txBody>
          <a:bodyPr wrap="square">
            <a:spAutoFit/>
          </a:bodyPr>
          <a:lstStyle/>
          <a:p>
            <a:pPr algn="just">
              <a:spcAft>
                <a:spcPts val="800"/>
              </a:spcAft>
            </a:pPr>
            <a:r>
              <a:rPr lang="es-MX" sz="1600" kern="100" dirty="0">
                <a:effectLst/>
                <a:latin typeface="+mn-lt"/>
                <a:ea typeface="Calibri" panose="020F0502020204030204" pitchFamily="34" charset="0"/>
                <a:cs typeface="Times New Roman" panose="02020603050405020304" pitchFamily="18" charset="0"/>
              </a:rPr>
              <a:t>2. </a:t>
            </a:r>
            <a:r>
              <a:rPr lang="es-MX" sz="1600" dirty="0"/>
              <a:t>En su sesión </a:t>
            </a:r>
            <a:r>
              <a:rPr lang="es-MX" sz="1600" b="1" dirty="0"/>
              <a:t>OPERADOR DE PERU MIEMBRO</a:t>
            </a:r>
            <a:r>
              <a:rPr lang="es-MX" sz="1600" dirty="0"/>
              <a:t>, en Menú que se ubica en la parte inferior, encontrará </a:t>
            </a:r>
            <a:r>
              <a:rPr lang="es-MX" sz="1600" b="1" dirty="0"/>
              <a:t>PANEL</a:t>
            </a:r>
            <a:r>
              <a:rPr lang="es-MX" sz="1600" dirty="0"/>
              <a:t>, podrá visualizar mensaje de bienvenida con su nombre, eslogan y Horario de atención colocado por el OPERADOR PRINCIAPL DE PERU así como la Tasa del día del Operador principal (Soles → Bolívares), Horario de atención y Mi propia Tasa del día (aplica solo a mis clientes) editable por el mismo operador, Operaciones en curso, realizadas y por revisar en tiempo real, Mi comisión (hoy): Monto total de mis operaciones y Comisión ganada en PEN. Este operador podrá validar el depósito realizado por el cliente en Perú en Sol y que al mismo tiempo en automático enviará un mensaje por </a:t>
            </a:r>
            <a:r>
              <a:rPr lang="es-MX" sz="1600" dirty="0" err="1"/>
              <a:t>Telegram</a:t>
            </a:r>
            <a:r>
              <a:rPr lang="es-MX" sz="1600" dirty="0"/>
              <a:t>  al cliente en Perú indicando que se ha validado su depósito.  </a:t>
            </a:r>
          </a:p>
          <a:p>
            <a:pPr algn="just">
              <a:spcAft>
                <a:spcPts val="800"/>
              </a:spcAft>
            </a:pPr>
            <a:endParaRPr lang="es-MX" sz="1600" dirty="0"/>
          </a:p>
        </p:txBody>
      </p:sp>
      <p:pic>
        <p:nvPicPr>
          <p:cNvPr id="9" name="Imagen 8">
            <a:extLst>
              <a:ext uri="{FF2B5EF4-FFF2-40B4-BE49-F238E27FC236}">
                <a16:creationId xmlns:a16="http://schemas.microsoft.com/office/drawing/2014/main" id="{09A2B660-8EFB-5C49-3C79-FB575A0A0E9A}"/>
              </a:ext>
            </a:extLst>
          </p:cNvPr>
          <p:cNvPicPr>
            <a:picLocks noChangeAspect="1"/>
          </p:cNvPicPr>
          <p:nvPr/>
        </p:nvPicPr>
        <p:blipFill>
          <a:blip r:embed="rId2"/>
          <a:stretch>
            <a:fillRect/>
          </a:stretch>
        </p:blipFill>
        <p:spPr>
          <a:xfrm>
            <a:off x="216569" y="2412697"/>
            <a:ext cx="3970421" cy="2817029"/>
          </a:xfrm>
          <a:prstGeom prst="rect">
            <a:avLst/>
          </a:prstGeom>
        </p:spPr>
      </p:pic>
      <p:pic>
        <p:nvPicPr>
          <p:cNvPr id="11" name="Imagen 10">
            <a:extLst>
              <a:ext uri="{FF2B5EF4-FFF2-40B4-BE49-F238E27FC236}">
                <a16:creationId xmlns:a16="http://schemas.microsoft.com/office/drawing/2014/main" id="{AFA57261-6FB3-1A0E-006A-35B1D5B5AC97}"/>
              </a:ext>
            </a:extLst>
          </p:cNvPr>
          <p:cNvPicPr>
            <a:picLocks noChangeAspect="1"/>
          </p:cNvPicPr>
          <p:nvPr/>
        </p:nvPicPr>
        <p:blipFill>
          <a:blip r:embed="rId3"/>
          <a:stretch>
            <a:fillRect/>
          </a:stretch>
        </p:blipFill>
        <p:spPr>
          <a:xfrm>
            <a:off x="4475748" y="2412697"/>
            <a:ext cx="4203032" cy="4145434"/>
          </a:xfrm>
          <a:prstGeom prst="rect">
            <a:avLst/>
          </a:prstGeom>
        </p:spPr>
      </p:pic>
      <p:pic>
        <p:nvPicPr>
          <p:cNvPr id="3" name="Imagen 2">
            <a:extLst>
              <a:ext uri="{FF2B5EF4-FFF2-40B4-BE49-F238E27FC236}">
                <a16:creationId xmlns:a16="http://schemas.microsoft.com/office/drawing/2014/main" id="{D45A88C2-E48C-B9B8-097E-D24CC0B0A995}"/>
              </a:ext>
            </a:extLst>
          </p:cNvPr>
          <p:cNvPicPr>
            <a:picLocks noChangeAspect="1"/>
          </p:cNvPicPr>
          <p:nvPr/>
        </p:nvPicPr>
        <p:blipFill>
          <a:blip r:embed="rId4"/>
          <a:stretch>
            <a:fillRect/>
          </a:stretch>
        </p:blipFill>
        <p:spPr>
          <a:xfrm>
            <a:off x="8889330" y="2155417"/>
            <a:ext cx="3086100" cy="4659994"/>
          </a:xfrm>
          <a:prstGeom prst="rect">
            <a:avLst/>
          </a:prstGeom>
        </p:spPr>
      </p:pic>
    </p:spTree>
    <p:extLst>
      <p:ext uri="{BB962C8B-B14F-4D97-AF65-F5344CB8AC3E}">
        <p14:creationId xmlns:p14="http://schemas.microsoft.com/office/powerpoint/2010/main" val="665447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8C84F-F188-C700-5D71-8C4CFCA365B5}"/>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6638C556-6E21-DB1E-B125-0ABD58B95EF3}"/>
              </a:ext>
            </a:extLst>
          </p:cNvPr>
          <p:cNvPicPr>
            <a:picLocks noChangeAspect="1"/>
          </p:cNvPicPr>
          <p:nvPr/>
        </p:nvPicPr>
        <p:blipFill>
          <a:blip r:embed="rId2"/>
          <a:stretch>
            <a:fillRect/>
          </a:stretch>
        </p:blipFill>
        <p:spPr>
          <a:xfrm>
            <a:off x="208548" y="1786410"/>
            <a:ext cx="5775158" cy="4784751"/>
          </a:xfrm>
          <a:prstGeom prst="rect">
            <a:avLst/>
          </a:prstGeom>
        </p:spPr>
      </p:pic>
      <p:sp>
        <p:nvSpPr>
          <p:cNvPr id="14" name="CuadroTexto 13">
            <a:extLst>
              <a:ext uri="{FF2B5EF4-FFF2-40B4-BE49-F238E27FC236}">
                <a16:creationId xmlns:a16="http://schemas.microsoft.com/office/drawing/2014/main" id="{3F870D34-E736-5166-005B-A518731E8220}"/>
              </a:ext>
            </a:extLst>
          </p:cNvPr>
          <p:cNvSpPr txBox="1"/>
          <p:nvPr/>
        </p:nvSpPr>
        <p:spPr>
          <a:xfrm>
            <a:off x="208548" y="286839"/>
            <a:ext cx="11774907" cy="1323439"/>
          </a:xfrm>
          <a:prstGeom prst="rect">
            <a:avLst/>
          </a:prstGeom>
          <a:noFill/>
        </p:spPr>
        <p:txBody>
          <a:bodyPr wrap="square">
            <a:spAutoFit/>
          </a:bodyPr>
          <a:lstStyle/>
          <a:p>
            <a:pPr algn="just">
              <a:spcAft>
                <a:spcPts val="800"/>
              </a:spcAft>
            </a:pPr>
            <a:r>
              <a:rPr lang="es-MX" sz="1600" kern="100" dirty="0">
                <a:effectLst/>
                <a:latin typeface="+mn-lt"/>
                <a:ea typeface="Calibri" panose="020F0502020204030204" pitchFamily="34" charset="0"/>
                <a:cs typeface="Times New Roman" panose="02020603050405020304" pitchFamily="18" charset="0"/>
              </a:rPr>
              <a:t>3. </a:t>
            </a:r>
            <a:r>
              <a:rPr lang="es-MX" sz="1600" dirty="0"/>
              <a:t>En su sesión </a:t>
            </a:r>
            <a:r>
              <a:rPr lang="es-MX" sz="1600" b="1" dirty="0"/>
              <a:t>OPERADOR DE PERU MIEMBRO</a:t>
            </a:r>
            <a:r>
              <a:rPr lang="es-MX" sz="1600" dirty="0"/>
              <a:t>, en Menú encontrará </a:t>
            </a:r>
            <a:r>
              <a:rPr lang="es-MX" sz="1600" b="1" dirty="0"/>
              <a:t>ESTADISTICAS</a:t>
            </a:r>
            <a:r>
              <a:rPr lang="es-MX" sz="1600" dirty="0"/>
              <a:t>, podrá acceder a información de las estadísticas de operaciones como:  número de operaciones, total de monto en PEN, total de monto transferido a beneficiarios a Venezuela en VES, Comisión equipo Perú en PEN y su nombre, Gráficos de barra, circular y línea. Detalle de cada operación (cuando fue generada y atendida con fecha y hora, Tiempo de respuesta total, monto depositado en PEN y transferido en VES y la cuenta del Beneficiario, comisiones en PE, transferencia a Venezuela en VES, descargas en EXCEL y PDF con todos sus datos respectivos.</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6" name="Imagen 15">
            <a:extLst>
              <a:ext uri="{FF2B5EF4-FFF2-40B4-BE49-F238E27FC236}">
                <a16:creationId xmlns:a16="http://schemas.microsoft.com/office/drawing/2014/main" id="{C3A9CAC1-E73B-3DC1-D226-4A11C59C1C30}"/>
              </a:ext>
            </a:extLst>
          </p:cNvPr>
          <p:cNvPicPr>
            <a:picLocks noChangeAspect="1"/>
          </p:cNvPicPr>
          <p:nvPr/>
        </p:nvPicPr>
        <p:blipFill>
          <a:blip r:embed="rId3"/>
          <a:stretch>
            <a:fillRect/>
          </a:stretch>
        </p:blipFill>
        <p:spPr>
          <a:xfrm>
            <a:off x="6303197" y="1786410"/>
            <a:ext cx="5360765" cy="4784751"/>
          </a:xfrm>
          <a:prstGeom prst="rect">
            <a:avLst/>
          </a:prstGeom>
        </p:spPr>
      </p:pic>
    </p:spTree>
    <p:extLst>
      <p:ext uri="{BB962C8B-B14F-4D97-AF65-F5344CB8AC3E}">
        <p14:creationId xmlns:p14="http://schemas.microsoft.com/office/powerpoint/2010/main" val="2975791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F436D-A976-274A-46B0-3EEEC93C894F}"/>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F1729F60-97A1-873C-B084-3FA4F25BAEFB}"/>
              </a:ext>
            </a:extLst>
          </p:cNvPr>
          <p:cNvPicPr>
            <a:picLocks noChangeAspect="1"/>
          </p:cNvPicPr>
          <p:nvPr/>
        </p:nvPicPr>
        <p:blipFill>
          <a:blip r:embed="rId2"/>
          <a:stretch>
            <a:fillRect/>
          </a:stretch>
        </p:blipFill>
        <p:spPr>
          <a:xfrm>
            <a:off x="5678906" y="374438"/>
            <a:ext cx="6513094" cy="5864086"/>
          </a:xfrm>
          <a:prstGeom prst="rect">
            <a:avLst/>
          </a:prstGeom>
        </p:spPr>
      </p:pic>
      <p:sp>
        <p:nvSpPr>
          <p:cNvPr id="7" name="CuadroTexto 6">
            <a:extLst>
              <a:ext uri="{FF2B5EF4-FFF2-40B4-BE49-F238E27FC236}">
                <a16:creationId xmlns:a16="http://schemas.microsoft.com/office/drawing/2014/main" id="{DE2DEB76-AA8B-6A57-E3E3-9C4C6AE3BA1B}"/>
              </a:ext>
            </a:extLst>
          </p:cNvPr>
          <p:cNvSpPr txBox="1"/>
          <p:nvPr/>
        </p:nvSpPr>
        <p:spPr>
          <a:xfrm>
            <a:off x="176463" y="628233"/>
            <a:ext cx="5390147" cy="2800767"/>
          </a:xfrm>
          <a:prstGeom prst="rect">
            <a:avLst/>
          </a:prstGeom>
          <a:noFill/>
        </p:spPr>
        <p:txBody>
          <a:bodyPr wrap="square">
            <a:spAutoFit/>
          </a:bodyPr>
          <a:lstStyle/>
          <a:p>
            <a:pPr algn="just">
              <a:spcAft>
                <a:spcPts val="800"/>
              </a:spcAft>
            </a:pPr>
            <a:r>
              <a:rPr lang="es-MX" sz="1600" kern="100" dirty="0">
                <a:effectLst/>
                <a:latin typeface="+mn-lt"/>
                <a:ea typeface="Calibri" panose="020F0502020204030204" pitchFamily="34" charset="0"/>
                <a:cs typeface="Times New Roman" panose="02020603050405020304" pitchFamily="18" charset="0"/>
              </a:rPr>
              <a:t>4. </a:t>
            </a:r>
            <a:r>
              <a:rPr lang="es-MX" sz="1600" dirty="0"/>
              <a:t>En su sesión </a:t>
            </a:r>
            <a:r>
              <a:rPr lang="es-MX" sz="1600" b="1" dirty="0"/>
              <a:t>OPERADOR DE PERU MIEMBRO</a:t>
            </a:r>
            <a:r>
              <a:rPr lang="es-MX" sz="1600" dirty="0"/>
              <a:t>, en Menú que se ubica en la parte inferior encontrará </a:t>
            </a:r>
            <a:r>
              <a:rPr lang="es-MX" sz="1600" b="1" dirty="0"/>
              <a:t>CLIENTES</a:t>
            </a:r>
            <a:r>
              <a:rPr lang="es-MX" sz="1600" dirty="0"/>
              <a:t>, podrá invitar a tus clientes compartiendo una Landing page (</a:t>
            </a:r>
            <a:r>
              <a:rPr lang="es-MX" sz="1600" u="sng" dirty="0">
                <a:hlinkClick r:id="rId3"/>
              </a:rPr>
              <a:t>https://remesas-envioya.vercel.app</a:t>
            </a:r>
            <a:r>
              <a:rPr lang="es-MX" sz="1600" dirty="0"/>
              <a:t>) por WhatsApp incluido un mensaje de bienvenida y un enlace que dirige al nuevo cliente a la Landing page. Aquí el nuevo cliente podrá acceder a la sesión usando un correo Gmail válido y con su respectiva contraseña propia. Finalmente, visualizará sus clientes registrados con todos sus datos inclusive si requiere derivarlo a algún operador de Perú miembro para que sea atendido por su equipo en Perú.  </a:t>
            </a:r>
          </a:p>
        </p:txBody>
      </p:sp>
    </p:spTree>
    <p:extLst>
      <p:ext uri="{BB962C8B-B14F-4D97-AF65-F5344CB8AC3E}">
        <p14:creationId xmlns:p14="http://schemas.microsoft.com/office/powerpoint/2010/main" val="4012100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A989D-3069-4B87-A8F1-3A9BB043F38F}"/>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17B0BBE4-AC5A-A2B2-43DF-F2D93C37ADE8}"/>
              </a:ext>
            </a:extLst>
          </p:cNvPr>
          <p:cNvSpPr txBox="1"/>
          <p:nvPr/>
        </p:nvSpPr>
        <p:spPr>
          <a:xfrm>
            <a:off x="188330" y="212239"/>
            <a:ext cx="11646569" cy="1754326"/>
          </a:xfrm>
          <a:prstGeom prst="rect">
            <a:avLst/>
          </a:prstGeom>
          <a:noFill/>
        </p:spPr>
        <p:txBody>
          <a:bodyPr wrap="square">
            <a:spAutoFit/>
          </a:bodyPr>
          <a:lstStyle/>
          <a:p>
            <a:pPr algn="just">
              <a:spcAft>
                <a:spcPts val="800"/>
              </a:spcAft>
            </a:pPr>
            <a:r>
              <a:rPr lang="es-MX" sz="1800" kern="100" dirty="0">
                <a:effectLst/>
                <a:latin typeface="+mn-lt"/>
                <a:ea typeface="Calibri" panose="020F0502020204030204" pitchFamily="34" charset="0"/>
                <a:cs typeface="Times New Roman" panose="02020603050405020304" pitchFamily="18" charset="0"/>
              </a:rPr>
              <a:t>4. </a:t>
            </a:r>
            <a:r>
              <a:rPr lang="es-MX" dirty="0"/>
              <a:t>En su sesión </a:t>
            </a:r>
            <a:r>
              <a:rPr lang="es-MX" b="1" dirty="0"/>
              <a:t>OPERADOR DE PERU MIEMBRO</a:t>
            </a:r>
            <a:r>
              <a:rPr lang="es-MX" dirty="0"/>
              <a:t>, en Menú que se ubica en la parte inferior encontrará </a:t>
            </a:r>
            <a:r>
              <a:rPr lang="es-MX" b="1" dirty="0"/>
              <a:t>CLIENTES</a:t>
            </a:r>
            <a:r>
              <a:rPr lang="es-MX" dirty="0"/>
              <a:t>, podrá invitar a tus clientes compartiendo una Landing page (</a:t>
            </a:r>
            <a:r>
              <a:rPr lang="es-MX" u="sng" dirty="0">
                <a:hlinkClick r:id="rId2"/>
              </a:rPr>
              <a:t>https://remesas-envioya.vercel.app</a:t>
            </a:r>
            <a:r>
              <a:rPr lang="es-MX" dirty="0"/>
              <a:t>) por WhatsApp incluido un mensaje de bienvenida y un enlace que dirige al nuevo cliente a la Landing page. Aquí el nuevo cliente podrá acceder a la sesión usando un correo Gmail válido y con su respectiva contraseña propia. Finalmente, visualizará sus clientes registrados con todos sus datos inclusive si requiere derivarlo a algún operador de Perú miembro para que sea atendido por su equipo en Perú.  </a:t>
            </a:r>
          </a:p>
        </p:txBody>
      </p:sp>
      <p:pic>
        <p:nvPicPr>
          <p:cNvPr id="4" name="Imagen 3">
            <a:extLst>
              <a:ext uri="{FF2B5EF4-FFF2-40B4-BE49-F238E27FC236}">
                <a16:creationId xmlns:a16="http://schemas.microsoft.com/office/drawing/2014/main" id="{720B04C1-0EAC-ADB8-000D-6E7563D28B18}"/>
              </a:ext>
            </a:extLst>
          </p:cNvPr>
          <p:cNvPicPr>
            <a:picLocks noChangeAspect="1"/>
          </p:cNvPicPr>
          <p:nvPr/>
        </p:nvPicPr>
        <p:blipFill>
          <a:blip r:embed="rId3"/>
          <a:stretch>
            <a:fillRect/>
          </a:stretch>
        </p:blipFill>
        <p:spPr>
          <a:xfrm>
            <a:off x="340317" y="1966565"/>
            <a:ext cx="5208377" cy="2439154"/>
          </a:xfrm>
          <a:prstGeom prst="rect">
            <a:avLst/>
          </a:prstGeom>
        </p:spPr>
      </p:pic>
      <p:pic>
        <p:nvPicPr>
          <p:cNvPr id="6" name="Imagen 5">
            <a:extLst>
              <a:ext uri="{FF2B5EF4-FFF2-40B4-BE49-F238E27FC236}">
                <a16:creationId xmlns:a16="http://schemas.microsoft.com/office/drawing/2014/main" id="{37AAA94F-3214-79E5-3F43-8A3E05714A53}"/>
              </a:ext>
            </a:extLst>
          </p:cNvPr>
          <p:cNvPicPr>
            <a:picLocks noChangeAspect="1"/>
          </p:cNvPicPr>
          <p:nvPr/>
        </p:nvPicPr>
        <p:blipFill>
          <a:blip r:embed="rId4"/>
          <a:stretch>
            <a:fillRect/>
          </a:stretch>
        </p:blipFill>
        <p:spPr>
          <a:xfrm>
            <a:off x="340317" y="4652211"/>
            <a:ext cx="5208377" cy="1993550"/>
          </a:xfrm>
          <a:prstGeom prst="rect">
            <a:avLst/>
          </a:prstGeom>
        </p:spPr>
      </p:pic>
      <p:pic>
        <p:nvPicPr>
          <p:cNvPr id="9" name="Imagen 8">
            <a:extLst>
              <a:ext uri="{FF2B5EF4-FFF2-40B4-BE49-F238E27FC236}">
                <a16:creationId xmlns:a16="http://schemas.microsoft.com/office/drawing/2014/main" id="{1A24A2EE-5EE3-BA85-F67D-9C0FDA3D3C53}"/>
              </a:ext>
            </a:extLst>
          </p:cNvPr>
          <p:cNvPicPr>
            <a:picLocks noChangeAspect="1"/>
          </p:cNvPicPr>
          <p:nvPr/>
        </p:nvPicPr>
        <p:blipFill>
          <a:blip r:embed="rId5"/>
          <a:stretch>
            <a:fillRect/>
          </a:stretch>
        </p:blipFill>
        <p:spPr>
          <a:xfrm>
            <a:off x="6096000" y="1966565"/>
            <a:ext cx="5594060" cy="1955362"/>
          </a:xfrm>
          <a:prstGeom prst="rect">
            <a:avLst/>
          </a:prstGeom>
        </p:spPr>
      </p:pic>
      <p:pic>
        <p:nvPicPr>
          <p:cNvPr id="11" name="Imagen 10">
            <a:extLst>
              <a:ext uri="{FF2B5EF4-FFF2-40B4-BE49-F238E27FC236}">
                <a16:creationId xmlns:a16="http://schemas.microsoft.com/office/drawing/2014/main" id="{306A52CB-42CA-D589-D593-2394B62A09B6}"/>
              </a:ext>
            </a:extLst>
          </p:cNvPr>
          <p:cNvPicPr>
            <a:picLocks noChangeAspect="1"/>
          </p:cNvPicPr>
          <p:nvPr/>
        </p:nvPicPr>
        <p:blipFill>
          <a:blip r:embed="rId6"/>
          <a:stretch>
            <a:fillRect/>
          </a:stretch>
        </p:blipFill>
        <p:spPr>
          <a:xfrm>
            <a:off x="6011615" y="4105790"/>
            <a:ext cx="5840068" cy="2539971"/>
          </a:xfrm>
          <a:prstGeom prst="rect">
            <a:avLst/>
          </a:prstGeom>
        </p:spPr>
      </p:pic>
    </p:spTree>
    <p:extLst>
      <p:ext uri="{BB962C8B-B14F-4D97-AF65-F5344CB8AC3E}">
        <p14:creationId xmlns:p14="http://schemas.microsoft.com/office/powerpoint/2010/main" val="663984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417B3-FC9B-40C8-5D49-38A13C1E1370}"/>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44A9C6C5-80E5-D4A2-42BB-2DED1320738B}"/>
              </a:ext>
            </a:extLst>
          </p:cNvPr>
          <p:cNvSpPr txBox="1"/>
          <p:nvPr/>
        </p:nvSpPr>
        <p:spPr>
          <a:xfrm>
            <a:off x="188330" y="212239"/>
            <a:ext cx="11646569" cy="1323439"/>
          </a:xfrm>
          <a:prstGeom prst="rect">
            <a:avLst/>
          </a:prstGeom>
          <a:noFill/>
        </p:spPr>
        <p:txBody>
          <a:bodyPr wrap="square">
            <a:spAutoFit/>
          </a:bodyPr>
          <a:lstStyle/>
          <a:p>
            <a:pPr algn="just">
              <a:spcAft>
                <a:spcPts val="800"/>
              </a:spcAft>
            </a:pPr>
            <a:r>
              <a:rPr lang="es-MX" sz="1600" kern="100" dirty="0">
                <a:effectLst/>
                <a:latin typeface="+mn-lt"/>
                <a:ea typeface="Calibri" panose="020F0502020204030204" pitchFamily="34" charset="0"/>
                <a:cs typeface="Times New Roman" panose="02020603050405020304" pitchFamily="18" charset="0"/>
              </a:rPr>
              <a:t>4. </a:t>
            </a:r>
            <a:r>
              <a:rPr lang="es-MX" sz="1600" dirty="0"/>
              <a:t>En su sesión </a:t>
            </a:r>
            <a:r>
              <a:rPr lang="es-MX" sz="1600" b="1" dirty="0"/>
              <a:t>OPERADOR DE PERU MIEMBRO</a:t>
            </a:r>
            <a:r>
              <a:rPr lang="es-MX" sz="1600" dirty="0"/>
              <a:t>, en Menú que se ubica en la parte inferior encontrará </a:t>
            </a:r>
            <a:r>
              <a:rPr lang="es-MX" sz="1600" b="1" dirty="0"/>
              <a:t>CLIENTES</a:t>
            </a:r>
            <a:r>
              <a:rPr lang="es-MX" sz="1600" dirty="0"/>
              <a:t>, podrá invitar a tus clientes compartiendo una Landing page (</a:t>
            </a:r>
            <a:r>
              <a:rPr lang="es-MX" sz="1600" u="sng" dirty="0">
                <a:hlinkClick r:id="rId2"/>
              </a:rPr>
              <a:t>https://remesas-envioya.vercel.app</a:t>
            </a:r>
            <a:r>
              <a:rPr lang="es-MX" sz="1600" dirty="0"/>
              <a:t>) por WhatsApp incluido un mensaje de bienvenida y un enlace que dirige al nuevo cliente a la Landing page. Aquí el nuevo cliente podrá acceder a la sesión usando un correo Gmail válido y con su respectiva contraseña propia. Finalmente, visualizará sus clientes registrados con todos sus datos inclusive si requiere derivarlo a algún operador de Perú miembro para que sea atendido por su equipo en Perú.  </a:t>
            </a:r>
          </a:p>
        </p:txBody>
      </p:sp>
      <p:pic>
        <p:nvPicPr>
          <p:cNvPr id="3" name="Imagen 2">
            <a:extLst>
              <a:ext uri="{FF2B5EF4-FFF2-40B4-BE49-F238E27FC236}">
                <a16:creationId xmlns:a16="http://schemas.microsoft.com/office/drawing/2014/main" id="{9D506AC4-C98A-8025-4815-BDDB7CDD2753}"/>
              </a:ext>
            </a:extLst>
          </p:cNvPr>
          <p:cNvPicPr>
            <a:picLocks noChangeAspect="1"/>
          </p:cNvPicPr>
          <p:nvPr/>
        </p:nvPicPr>
        <p:blipFill>
          <a:blip r:embed="rId3"/>
          <a:stretch>
            <a:fillRect/>
          </a:stretch>
        </p:blipFill>
        <p:spPr>
          <a:xfrm>
            <a:off x="133552" y="1668379"/>
            <a:ext cx="3437272" cy="5125395"/>
          </a:xfrm>
          <a:prstGeom prst="rect">
            <a:avLst/>
          </a:prstGeom>
        </p:spPr>
      </p:pic>
      <p:pic>
        <p:nvPicPr>
          <p:cNvPr id="8" name="Imagen 7">
            <a:extLst>
              <a:ext uri="{FF2B5EF4-FFF2-40B4-BE49-F238E27FC236}">
                <a16:creationId xmlns:a16="http://schemas.microsoft.com/office/drawing/2014/main" id="{9E2CBB03-52BD-6BD4-7996-C64926B552D2}"/>
              </a:ext>
            </a:extLst>
          </p:cNvPr>
          <p:cNvPicPr>
            <a:picLocks noChangeAspect="1"/>
          </p:cNvPicPr>
          <p:nvPr/>
        </p:nvPicPr>
        <p:blipFill>
          <a:blip r:embed="rId4"/>
          <a:stretch>
            <a:fillRect/>
          </a:stretch>
        </p:blipFill>
        <p:spPr>
          <a:xfrm>
            <a:off x="3746783" y="2597426"/>
            <a:ext cx="3873217" cy="3003884"/>
          </a:xfrm>
          <a:prstGeom prst="rect">
            <a:avLst/>
          </a:prstGeom>
        </p:spPr>
      </p:pic>
      <p:pic>
        <p:nvPicPr>
          <p:cNvPr id="12" name="Imagen 11">
            <a:extLst>
              <a:ext uri="{FF2B5EF4-FFF2-40B4-BE49-F238E27FC236}">
                <a16:creationId xmlns:a16="http://schemas.microsoft.com/office/drawing/2014/main" id="{E4436D53-9C87-3DD2-70BA-72F9873AB1B9}"/>
              </a:ext>
            </a:extLst>
          </p:cNvPr>
          <p:cNvPicPr>
            <a:picLocks noChangeAspect="1"/>
          </p:cNvPicPr>
          <p:nvPr/>
        </p:nvPicPr>
        <p:blipFill>
          <a:blip r:embed="rId5"/>
          <a:stretch>
            <a:fillRect/>
          </a:stretch>
        </p:blipFill>
        <p:spPr>
          <a:xfrm>
            <a:off x="7709262" y="1535678"/>
            <a:ext cx="4180415" cy="5258095"/>
          </a:xfrm>
          <a:prstGeom prst="rect">
            <a:avLst/>
          </a:prstGeom>
        </p:spPr>
      </p:pic>
    </p:spTree>
    <p:extLst>
      <p:ext uri="{BB962C8B-B14F-4D97-AF65-F5344CB8AC3E}">
        <p14:creationId xmlns:p14="http://schemas.microsoft.com/office/powerpoint/2010/main" val="2734092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A26EC-34D1-6F2F-AF26-14CDA16D73C7}"/>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2C9E7EAC-1024-5275-1491-9E32D0D6474A}"/>
              </a:ext>
            </a:extLst>
          </p:cNvPr>
          <p:cNvSpPr txBox="1"/>
          <p:nvPr/>
        </p:nvSpPr>
        <p:spPr>
          <a:xfrm>
            <a:off x="240633" y="1210482"/>
            <a:ext cx="3978442" cy="3785652"/>
          </a:xfrm>
          <a:prstGeom prst="rect">
            <a:avLst/>
          </a:prstGeom>
          <a:noFill/>
        </p:spPr>
        <p:txBody>
          <a:bodyPr wrap="square">
            <a:spAutoFit/>
          </a:bodyPr>
          <a:lstStyle/>
          <a:p>
            <a:pPr algn="just">
              <a:spcAft>
                <a:spcPts val="800"/>
              </a:spcAft>
            </a:pPr>
            <a:r>
              <a:rPr lang="es-MX" sz="1600" kern="100" dirty="0">
                <a:effectLst/>
                <a:latin typeface="+mn-lt"/>
                <a:ea typeface="Calibri" panose="020F0502020204030204" pitchFamily="34" charset="0"/>
                <a:cs typeface="Times New Roman" panose="02020603050405020304" pitchFamily="18" charset="0"/>
              </a:rPr>
              <a:t>4. </a:t>
            </a:r>
            <a:r>
              <a:rPr lang="es-MX" sz="1600" dirty="0"/>
              <a:t>En su sesión </a:t>
            </a:r>
            <a:r>
              <a:rPr lang="es-MX" sz="1600" b="1" dirty="0"/>
              <a:t>OPERADOR DE PERU MIEMBRO</a:t>
            </a:r>
            <a:r>
              <a:rPr lang="es-MX" sz="1600" dirty="0"/>
              <a:t>, en Menú que se ubica en la parte inferior encontrará </a:t>
            </a:r>
            <a:r>
              <a:rPr lang="es-MX" sz="1600" b="1" dirty="0"/>
              <a:t>CLIENTES</a:t>
            </a:r>
            <a:r>
              <a:rPr lang="es-MX" sz="1600" dirty="0"/>
              <a:t>, podrá invitar a tus clientes compartiendo una Landing page (</a:t>
            </a:r>
            <a:r>
              <a:rPr lang="es-MX" sz="1600" u="sng" dirty="0">
                <a:hlinkClick r:id="rId2"/>
              </a:rPr>
              <a:t>https://remesas-envioya.vercel.app</a:t>
            </a:r>
            <a:r>
              <a:rPr lang="es-MX" sz="1600" dirty="0"/>
              <a:t>) por WhatsApp incluido un mensaje de bienvenida y un enlace que dirige al nuevo cliente a la Landing page. Aquí el nuevo cliente podrá acceder a la sesión usando un correo Gmail válido y con su respectiva contraseña propia. Finalmente, visualizará sus clientes registrados con todos sus datos inclusive si requiere derivarlo a algún operador de Perú miembro para que sea atendido por su equipo en Perú. </a:t>
            </a:r>
          </a:p>
        </p:txBody>
      </p:sp>
      <p:pic>
        <p:nvPicPr>
          <p:cNvPr id="4" name="Imagen 3">
            <a:extLst>
              <a:ext uri="{FF2B5EF4-FFF2-40B4-BE49-F238E27FC236}">
                <a16:creationId xmlns:a16="http://schemas.microsoft.com/office/drawing/2014/main" id="{40ECD8C3-1A97-313B-91FB-E1581F88C8C4}"/>
              </a:ext>
            </a:extLst>
          </p:cNvPr>
          <p:cNvPicPr>
            <a:picLocks noChangeAspect="1"/>
          </p:cNvPicPr>
          <p:nvPr/>
        </p:nvPicPr>
        <p:blipFill>
          <a:blip r:embed="rId3"/>
          <a:stretch>
            <a:fillRect/>
          </a:stretch>
        </p:blipFill>
        <p:spPr>
          <a:xfrm>
            <a:off x="4423092" y="1210482"/>
            <a:ext cx="7528275" cy="5110108"/>
          </a:xfrm>
          <a:prstGeom prst="rect">
            <a:avLst/>
          </a:prstGeom>
        </p:spPr>
      </p:pic>
    </p:spTree>
    <p:extLst>
      <p:ext uri="{BB962C8B-B14F-4D97-AF65-F5344CB8AC3E}">
        <p14:creationId xmlns:p14="http://schemas.microsoft.com/office/powerpoint/2010/main" val="2063751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77630-C701-B19A-E3DA-752DAE28EC05}"/>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5AC0ED56-E910-85B2-F994-93A6390FFB58}"/>
              </a:ext>
            </a:extLst>
          </p:cNvPr>
          <p:cNvPicPr>
            <a:picLocks noChangeAspect="1"/>
          </p:cNvPicPr>
          <p:nvPr/>
        </p:nvPicPr>
        <p:blipFill>
          <a:blip r:embed="rId2"/>
          <a:stretch>
            <a:fillRect/>
          </a:stretch>
        </p:blipFill>
        <p:spPr>
          <a:xfrm>
            <a:off x="3067066" y="1220370"/>
            <a:ext cx="6057868" cy="5397165"/>
          </a:xfrm>
          <a:prstGeom prst="rect">
            <a:avLst/>
          </a:prstGeom>
        </p:spPr>
      </p:pic>
      <p:sp>
        <p:nvSpPr>
          <p:cNvPr id="5" name="CuadroTexto 4">
            <a:extLst>
              <a:ext uri="{FF2B5EF4-FFF2-40B4-BE49-F238E27FC236}">
                <a16:creationId xmlns:a16="http://schemas.microsoft.com/office/drawing/2014/main" id="{7C31CA2B-1F79-2180-41F3-C17C656BF5DD}"/>
              </a:ext>
            </a:extLst>
          </p:cNvPr>
          <p:cNvSpPr txBox="1"/>
          <p:nvPr/>
        </p:nvSpPr>
        <p:spPr>
          <a:xfrm>
            <a:off x="215924" y="240465"/>
            <a:ext cx="11389895" cy="830997"/>
          </a:xfrm>
          <a:prstGeom prst="rect">
            <a:avLst/>
          </a:prstGeom>
          <a:noFill/>
        </p:spPr>
        <p:txBody>
          <a:bodyPr wrap="square">
            <a:spAutoFit/>
          </a:bodyPr>
          <a:lstStyle/>
          <a:p>
            <a:pPr algn="just">
              <a:spcAft>
                <a:spcPts val="800"/>
              </a:spcAft>
              <a:buSzPts val="1100"/>
            </a:pPr>
            <a:r>
              <a:rPr lang="es-MX" sz="1600" kern="100" dirty="0">
                <a:effectLst/>
                <a:latin typeface="+mn-lt"/>
                <a:ea typeface="Calibri" panose="020F0502020204030204" pitchFamily="34" charset="0"/>
                <a:cs typeface="Times New Roman" panose="02020603050405020304" pitchFamily="18" charset="0"/>
              </a:rPr>
              <a:t>5. </a:t>
            </a:r>
            <a:r>
              <a:rPr lang="es-MX" sz="1600" dirty="0"/>
              <a:t>En su sesión </a:t>
            </a:r>
            <a:r>
              <a:rPr lang="es-MX" sz="1600" b="1" dirty="0"/>
              <a:t>OPERADOR DE PERU MIEMBRO</a:t>
            </a:r>
            <a:r>
              <a:rPr lang="es-MX" sz="1600" dirty="0"/>
              <a:t>, en Menú que se ubica en la parte inferior encontrará </a:t>
            </a:r>
            <a:r>
              <a:rPr lang="es-MX" sz="1600" b="1" dirty="0"/>
              <a:t>PERFIL</a:t>
            </a:r>
            <a:r>
              <a:rPr lang="es-MX" sz="1600" dirty="0"/>
              <a:t>, podrá visualizar su rol, datos (nombre, correo y teléfono), % Comisión asignada  e </a:t>
            </a:r>
            <a:r>
              <a:rPr lang="es-MX" sz="1600" dirty="0" err="1"/>
              <a:t>info</a:t>
            </a:r>
            <a:r>
              <a:rPr lang="es-MX" sz="1600" dirty="0"/>
              <a:t> para Instalar la app en el celular y verlo con un botón de acceso directo en el móvil con opción a enviar por WhatsApp/</a:t>
            </a:r>
            <a:r>
              <a:rPr lang="es-MX" sz="1600" dirty="0" err="1"/>
              <a:t>Telegram</a:t>
            </a:r>
            <a:r>
              <a:rPr lang="es-MX" sz="1600" dirty="0"/>
              <a:t> al cliente.</a:t>
            </a:r>
          </a:p>
        </p:txBody>
      </p:sp>
    </p:spTree>
    <p:extLst>
      <p:ext uri="{BB962C8B-B14F-4D97-AF65-F5344CB8AC3E}">
        <p14:creationId xmlns:p14="http://schemas.microsoft.com/office/powerpoint/2010/main" val="3555750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0E9B7-C9FA-7C82-D934-916A9D3066FC}"/>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C4858420-B7D6-0442-1CFA-A05260D382E5}"/>
              </a:ext>
            </a:extLst>
          </p:cNvPr>
          <p:cNvSpPr txBox="1"/>
          <p:nvPr/>
        </p:nvSpPr>
        <p:spPr>
          <a:xfrm>
            <a:off x="417094" y="301413"/>
            <a:ext cx="11505864" cy="830997"/>
          </a:xfrm>
          <a:prstGeom prst="rect">
            <a:avLst/>
          </a:prstGeom>
          <a:noFill/>
        </p:spPr>
        <p:txBody>
          <a:bodyPr wrap="square">
            <a:spAutoFit/>
          </a:bodyPr>
          <a:lstStyle/>
          <a:p>
            <a:pPr lvl="0" algn="just">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1. El </a:t>
            </a:r>
            <a:r>
              <a:rPr lang="es-MX" sz="1600" b="1" kern="100" dirty="0">
                <a:effectLst/>
                <a:latin typeface="+mn-lt"/>
                <a:ea typeface="Calibri" panose="020F0502020204030204" pitchFamily="34" charset="0"/>
                <a:cs typeface="Times New Roman" panose="02020603050405020304" pitchFamily="18" charset="0"/>
              </a:rPr>
              <a:t>OPERADOR PRINCIPAL DE PERU</a:t>
            </a:r>
            <a:r>
              <a:rPr lang="es-MX" sz="1600" kern="100" dirty="0">
                <a:effectLst/>
                <a:latin typeface="+mn-lt"/>
                <a:ea typeface="Calibri" panose="020F0502020204030204" pitchFamily="34" charset="0"/>
                <a:cs typeface="Times New Roman" panose="02020603050405020304" pitchFamily="18" charset="0"/>
              </a:rPr>
              <a:t>, realiza su previo registro del nuevo operador de Venezuela miembro con sus datos (nombre, correo y teléfono) y le envía un mensaje por WhatsApp para la bienvenida con el enlace del aplicativo  </a:t>
            </a:r>
            <a:r>
              <a:rPr lang="es-MX" sz="1600" u="sng" kern="100" dirty="0">
                <a:solidFill>
                  <a:schemeClr val="tx1"/>
                </a:solidFill>
                <a:effectLst/>
                <a:latin typeface="+mn-lt"/>
                <a:ea typeface="Calibri" panose="020F0502020204030204" pitchFamily="34" charset="0"/>
                <a:cs typeface="Times New Roman" panose="02020603050405020304" pitchFamily="18" charset="0"/>
                <a:hlinkClick r:id="rId2"/>
              </a:rPr>
              <a:t>https://remesasia.vercel.app/</a:t>
            </a:r>
            <a:r>
              <a:rPr lang="es-MX" sz="1600" kern="100" dirty="0">
                <a:effectLst/>
                <a:latin typeface="+mn-lt"/>
                <a:ea typeface="Calibri" panose="020F0502020204030204" pitchFamily="34" charset="0"/>
                <a:cs typeface="Times New Roman" panose="02020603050405020304" pitchFamily="18" charset="0"/>
              </a:rPr>
              <a:t>  y la indicación para acceder como con su correo Gmail registrado y su propia contraseña de su correo.</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3" name="Imagen 12">
            <a:extLst>
              <a:ext uri="{FF2B5EF4-FFF2-40B4-BE49-F238E27FC236}">
                <a16:creationId xmlns:a16="http://schemas.microsoft.com/office/drawing/2014/main" id="{9CFA5A2F-C6CF-E0A5-0C02-D085D674B50D}"/>
              </a:ext>
            </a:extLst>
          </p:cNvPr>
          <p:cNvPicPr>
            <a:picLocks noChangeAspect="1"/>
          </p:cNvPicPr>
          <p:nvPr/>
        </p:nvPicPr>
        <p:blipFill>
          <a:blip r:embed="rId3"/>
          <a:stretch>
            <a:fillRect/>
          </a:stretch>
        </p:blipFill>
        <p:spPr>
          <a:xfrm>
            <a:off x="1917086" y="1825296"/>
            <a:ext cx="7820473" cy="2810871"/>
          </a:xfrm>
          <a:prstGeom prst="rect">
            <a:avLst/>
          </a:prstGeom>
        </p:spPr>
      </p:pic>
      <p:pic>
        <p:nvPicPr>
          <p:cNvPr id="15" name="Imagen 14">
            <a:extLst>
              <a:ext uri="{FF2B5EF4-FFF2-40B4-BE49-F238E27FC236}">
                <a16:creationId xmlns:a16="http://schemas.microsoft.com/office/drawing/2014/main" id="{1829F240-C93D-15AF-1861-37127ACF0B71}"/>
              </a:ext>
            </a:extLst>
          </p:cNvPr>
          <p:cNvPicPr>
            <a:picLocks noChangeAspect="1"/>
          </p:cNvPicPr>
          <p:nvPr/>
        </p:nvPicPr>
        <p:blipFill>
          <a:blip r:embed="rId4"/>
          <a:stretch>
            <a:fillRect/>
          </a:stretch>
        </p:blipFill>
        <p:spPr>
          <a:xfrm>
            <a:off x="3078161" y="4750132"/>
            <a:ext cx="6035678" cy="1920443"/>
          </a:xfrm>
          <a:prstGeom prst="rect">
            <a:avLst/>
          </a:prstGeom>
        </p:spPr>
      </p:pic>
    </p:spTree>
    <p:extLst>
      <p:ext uri="{BB962C8B-B14F-4D97-AF65-F5344CB8AC3E}">
        <p14:creationId xmlns:p14="http://schemas.microsoft.com/office/powerpoint/2010/main" val="4266652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B79A2-CA0C-2E5F-DBD4-33BD9187CC7E}"/>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1F31E01E-FF4E-F425-7C4A-819635FB07A4}"/>
              </a:ext>
            </a:extLst>
          </p:cNvPr>
          <p:cNvSpPr txBox="1"/>
          <p:nvPr/>
        </p:nvSpPr>
        <p:spPr>
          <a:xfrm>
            <a:off x="343068" y="174172"/>
            <a:ext cx="11505864" cy="1200329"/>
          </a:xfrm>
          <a:prstGeom prst="rect">
            <a:avLst/>
          </a:prstGeom>
          <a:noFill/>
        </p:spPr>
        <p:txBody>
          <a:bodyPr wrap="square">
            <a:spAutoFit/>
          </a:bodyPr>
          <a:lstStyle/>
          <a:p>
            <a:pPr lvl="0" algn="just">
              <a:lnSpc>
                <a:spcPct val="100000"/>
              </a:lnSpc>
              <a:spcAft>
                <a:spcPts val="800"/>
              </a:spcAft>
            </a:pPr>
            <a:r>
              <a:rPr lang="es-MX" sz="1800" kern="100" dirty="0">
                <a:effectLst/>
                <a:latin typeface="+mn-lt"/>
                <a:ea typeface="Calibri" panose="020F0502020204030204" pitchFamily="34" charset="0"/>
                <a:cs typeface="Times New Roman" panose="02020603050405020304" pitchFamily="18" charset="0"/>
              </a:rPr>
              <a:t>1. El </a:t>
            </a:r>
            <a:r>
              <a:rPr lang="es-MX" sz="1800" b="1" kern="100" dirty="0">
                <a:effectLst/>
                <a:latin typeface="+mn-lt"/>
                <a:ea typeface="Calibri" panose="020F0502020204030204" pitchFamily="34" charset="0"/>
                <a:cs typeface="Times New Roman" panose="02020603050405020304" pitchFamily="18" charset="0"/>
              </a:rPr>
              <a:t>OPERADOR PRINCIPAL DE PERU</a:t>
            </a:r>
            <a:r>
              <a:rPr lang="es-MX" sz="1800" kern="100" dirty="0">
                <a:effectLst/>
                <a:latin typeface="+mn-lt"/>
                <a:ea typeface="Calibri" panose="020F0502020204030204" pitchFamily="34" charset="0"/>
                <a:cs typeface="Times New Roman" panose="02020603050405020304" pitchFamily="18" charset="0"/>
              </a:rPr>
              <a:t>, realiza su previo registro del nuevo operador de Venezuela miembro con sus datos (nombre, correo y teléfono) y le envía un mensaje por WhatsApp para la bienvenida con el enlace del aplicativo  </a:t>
            </a:r>
            <a:r>
              <a:rPr lang="es-MX" sz="1800" u="sng" kern="100" dirty="0">
                <a:solidFill>
                  <a:schemeClr val="tx1"/>
                </a:solidFill>
                <a:effectLst/>
                <a:latin typeface="+mn-lt"/>
                <a:ea typeface="Calibri" panose="020F0502020204030204" pitchFamily="34" charset="0"/>
                <a:cs typeface="Times New Roman" panose="02020603050405020304" pitchFamily="18" charset="0"/>
                <a:hlinkClick r:id="rId2"/>
              </a:rPr>
              <a:t>https://remesasia.vercel.app/</a:t>
            </a:r>
            <a:r>
              <a:rPr lang="es-MX" sz="1800" kern="100" dirty="0">
                <a:effectLst/>
                <a:latin typeface="+mn-lt"/>
                <a:ea typeface="Calibri" panose="020F0502020204030204" pitchFamily="34" charset="0"/>
                <a:cs typeface="Times New Roman" panose="02020603050405020304" pitchFamily="18" charset="0"/>
              </a:rPr>
              <a:t>  y la indicación para acceder como con su correo Gmail registrado y su propia contraseña de su correo.</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EAD75ECB-36E7-4A03-E3F0-154F369F436A}"/>
              </a:ext>
            </a:extLst>
          </p:cNvPr>
          <p:cNvPicPr>
            <a:picLocks noChangeAspect="1"/>
          </p:cNvPicPr>
          <p:nvPr/>
        </p:nvPicPr>
        <p:blipFill>
          <a:blip r:embed="rId3"/>
          <a:stretch>
            <a:fillRect/>
          </a:stretch>
        </p:blipFill>
        <p:spPr>
          <a:xfrm>
            <a:off x="136807" y="1501742"/>
            <a:ext cx="3857677" cy="5058063"/>
          </a:xfrm>
          <a:prstGeom prst="rect">
            <a:avLst/>
          </a:prstGeom>
        </p:spPr>
      </p:pic>
      <p:pic>
        <p:nvPicPr>
          <p:cNvPr id="11" name="Imagen 10">
            <a:extLst>
              <a:ext uri="{FF2B5EF4-FFF2-40B4-BE49-F238E27FC236}">
                <a16:creationId xmlns:a16="http://schemas.microsoft.com/office/drawing/2014/main" id="{523D6BD3-9FDA-1ACB-FFE2-077BF1FC6E3B}"/>
              </a:ext>
            </a:extLst>
          </p:cNvPr>
          <p:cNvPicPr>
            <a:picLocks noChangeAspect="1"/>
          </p:cNvPicPr>
          <p:nvPr/>
        </p:nvPicPr>
        <p:blipFill>
          <a:blip r:embed="rId4"/>
          <a:stretch>
            <a:fillRect/>
          </a:stretch>
        </p:blipFill>
        <p:spPr>
          <a:xfrm>
            <a:off x="4042611" y="2776768"/>
            <a:ext cx="3593432" cy="2706731"/>
          </a:xfrm>
          <a:prstGeom prst="rect">
            <a:avLst/>
          </a:prstGeom>
        </p:spPr>
      </p:pic>
      <p:pic>
        <p:nvPicPr>
          <p:cNvPr id="3" name="Imagen 2">
            <a:extLst>
              <a:ext uri="{FF2B5EF4-FFF2-40B4-BE49-F238E27FC236}">
                <a16:creationId xmlns:a16="http://schemas.microsoft.com/office/drawing/2014/main" id="{666CA368-B0FA-5F34-D663-44B6F6BC7B62}"/>
              </a:ext>
            </a:extLst>
          </p:cNvPr>
          <p:cNvPicPr>
            <a:picLocks noChangeAspect="1"/>
          </p:cNvPicPr>
          <p:nvPr/>
        </p:nvPicPr>
        <p:blipFill>
          <a:blip r:embed="rId5"/>
          <a:stretch>
            <a:fillRect/>
          </a:stretch>
        </p:blipFill>
        <p:spPr>
          <a:xfrm>
            <a:off x="7768279" y="1501741"/>
            <a:ext cx="4286914" cy="5058063"/>
          </a:xfrm>
          <a:prstGeom prst="rect">
            <a:avLst/>
          </a:prstGeom>
        </p:spPr>
      </p:pic>
    </p:spTree>
    <p:extLst>
      <p:ext uri="{BB962C8B-B14F-4D97-AF65-F5344CB8AC3E}">
        <p14:creationId xmlns:p14="http://schemas.microsoft.com/office/powerpoint/2010/main" val="16698780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D9C55-DDCF-21E2-F792-9A97937C3088}"/>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0A29438-E4DF-685B-5F1C-341AA4B408DD}"/>
              </a:ext>
            </a:extLst>
          </p:cNvPr>
          <p:cNvSpPr txBox="1"/>
          <p:nvPr/>
        </p:nvSpPr>
        <p:spPr>
          <a:xfrm>
            <a:off x="184484" y="302983"/>
            <a:ext cx="11823031" cy="2031325"/>
          </a:xfrm>
          <a:prstGeom prst="rect">
            <a:avLst/>
          </a:prstGeom>
          <a:noFill/>
        </p:spPr>
        <p:txBody>
          <a:bodyPr wrap="square">
            <a:spAutoFit/>
          </a:bodyPr>
          <a:lstStyle/>
          <a:p>
            <a:r>
              <a:rPr lang="es-MX" dirty="0"/>
              <a:t>2. En su sesión </a:t>
            </a:r>
            <a:r>
              <a:rPr lang="es-MX" b="1" dirty="0"/>
              <a:t>OPERADOR DE VENEZUELA</a:t>
            </a:r>
            <a:r>
              <a:rPr lang="es-MX" dirty="0"/>
              <a:t>, en Menú que se ubica en la parte inferior, encontrará </a:t>
            </a:r>
            <a:r>
              <a:rPr lang="es-MX" b="1" dirty="0"/>
              <a:t>PANE</a:t>
            </a:r>
            <a:r>
              <a:rPr lang="es-MX" dirty="0"/>
              <a:t>L, podrá visualizar mensaje de bienvenida con su nombre, eslogan y Horario de atención colocado por el OPERADOR PRINCIPAL DE PERU </a:t>
            </a:r>
            <a:r>
              <a:rPr lang="es-MX" dirty="0" err="1"/>
              <a:t>asi</a:t>
            </a:r>
            <a:r>
              <a:rPr lang="es-MX" dirty="0"/>
              <a:t> como la Tasa del día del Operador principal (Soles → Bolívares), Horario de atención, Operaciones en curso, realizadas y por revisar en tiempo real, Mi comisión (hoy): Monto total de mis operaciones y Comisión ganada en PEN. Este operador podrá validar el depósito transferido en Venezuela al  beneficiario cargando su respectiva imagen y que al mismo tiempo en automático enviará un mensaje por </a:t>
            </a:r>
            <a:r>
              <a:rPr lang="es-MX" dirty="0" err="1"/>
              <a:t>Telegram</a:t>
            </a:r>
            <a:r>
              <a:rPr lang="es-MX" dirty="0"/>
              <a:t>  al cliente en Perú y al beneficiario indicando que se ha validado su depósito con su respectiva imagen.</a:t>
            </a:r>
          </a:p>
        </p:txBody>
      </p:sp>
      <p:pic>
        <p:nvPicPr>
          <p:cNvPr id="5" name="Imagen 4">
            <a:extLst>
              <a:ext uri="{FF2B5EF4-FFF2-40B4-BE49-F238E27FC236}">
                <a16:creationId xmlns:a16="http://schemas.microsoft.com/office/drawing/2014/main" id="{918FF62D-5A27-C295-0165-CAC62454BB40}"/>
              </a:ext>
            </a:extLst>
          </p:cNvPr>
          <p:cNvPicPr>
            <a:picLocks noChangeAspect="1"/>
          </p:cNvPicPr>
          <p:nvPr/>
        </p:nvPicPr>
        <p:blipFill>
          <a:blip r:embed="rId2"/>
          <a:stretch>
            <a:fillRect/>
          </a:stretch>
        </p:blipFill>
        <p:spPr>
          <a:xfrm>
            <a:off x="497306" y="2334308"/>
            <a:ext cx="4341108" cy="4400584"/>
          </a:xfrm>
          <a:prstGeom prst="rect">
            <a:avLst/>
          </a:prstGeom>
        </p:spPr>
      </p:pic>
      <p:pic>
        <p:nvPicPr>
          <p:cNvPr id="7" name="Imagen 6">
            <a:extLst>
              <a:ext uri="{FF2B5EF4-FFF2-40B4-BE49-F238E27FC236}">
                <a16:creationId xmlns:a16="http://schemas.microsoft.com/office/drawing/2014/main" id="{B35232D5-D160-61C2-DD73-2208CE770388}"/>
              </a:ext>
            </a:extLst>
          </p:cNvPr>
          <p:cNvPicPr>
            <a:picLocks noChangeAspect="1"/>
          </p:cNvPicPr>
          <p:nvPr/>
        </p:nvPicPr>
        <p:blipFill>
          <a:blip r:embed="rId3"/>
          <a:stretch>
            <a:fillRect/>
          </a:stretch>
        </p:blipFill>
        <p:spPr>
          <a:xfrm>
            <a:off x="5007211" y="2931920"/>
            <a:ext cx="6687483" cy="2867425"/>
          </a:xfrm>
          <a:prstGeom prst="rect">
            <a:avLst/>
          </a:prstGeom>
        </p:spPr>
      </p:pic>
    </p:spTree>
    <p:extLst>
      <p:ext uri="{BB962C8B-B14F-4D97-AF65-F5344CB8AC3E}">
        <p14:creationId xmlns:p14="http://schemas.microsoft.com/office/powerpoint/2010/main" val="58354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59388-B172-C7F8-1174-2CEC82E8654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8E54774-2EF2-4203-518D-40EF6EBAF59D}"/>
              </a:ext>
            </a:extLst>
          </p:cNvPr>
          <p:cNvSpPr txBox="1"/>
          <p:nvPr/>
        </p:nvSpPr>
        <p:spPr>
          <a:xfrm>
            <a:off x="184484" y="302983"/>
            <a:ext cx="11823031" cy="2031325"/>
          </a:xfrm>
          <a:prstGeom prst="rect">
            <a:avLst/>
          </a:prstGeom>
          <a:noFill/>
        </p:spPr>
        <p:txBody>
          <a:bodyPr wrap="square">
            <a:spAutoFit/>
          </a:bodyPr>
          <a:lstStyle/>
          <a:p>
            <a:pPr algn="just"/>
            <a:r>
              <a:rPr lang="es-MX" dirty="0"/>
              <a:t>2. En su sesión </a:t>
            </a:r>
            <a:r>
              <a:rPr lang="es-MX" b="1" dirty="0"/>
              <a:t>OPERADOR DE VENEZUELA</a:t>
            </a:r>
            <a:r>
              <a:rPr lang="es-MX" dirty="0"/>
              <a:t>, en Menú que se ubica en la parte inferior, encontrará </a:t>
            </a:r>
            <a:r>
              <a:rPr lang="es-MX" b="1" dirty="0"/>
              <a:t>PANE</a:t>
            </a:r>
            <a:r>
              <a:rPr lang="es-MX" dirty="0"/>
              <a:t>L, podrá visualizar mensaje de bienvenida con su nombre, eslogan y Horario de atención colocado por el OPERADOR PRINCIPAL DE PERU </a:t>
            </a:r>
            <a:r>
              <a:rPr lang="es-MX" dirty="0" err="1"/>
              <a:t>asi</a:t>
            </a:r>
            <a:r>
              <a:rPr lang="es-MX" dirty="0"/>
              <a:t> como la Tasa del día del Operador principal (Soles → Bolívares), Horario de atención, Operaciones en curso, realizadas y por revisar en tiempo real, Mi comisión (hoy): Monto total de mis operaciones y Comisión ganada en PEN. Este operador podrá validar el depósito transferido en Venezuela al  beneficiario cargando su respectiva imagen y que al mismo tiempo en automático enviará un mensaje por </a:t>
            </a:r>
            <a:r>
              <a:rPr lang="es-MX" dirty="0" err="1"/>
              <a:t>Telegram</a:t>
            </a:r>
            <a:r>
              <a:rPr lang="es-MX" dirty="0"/>
              <a:t>  al cliente en Perú y al beneficiario indicando que se ha validado su depósito con su respectiva imagen.</a:t>
            </a:r>
          </a:p>
        </p:txBody>
      </p:sp>
      <p:pic>
        <p:nvPicPr>
          <p:cNvPr id="8" name="Imagen 7">
            <a:extLst>
              <a:ext uri="{FF2B5EF4-FFF2-40B4-BE49-F238E27FC236}">
                <a16:creationId xmlns:a16="http://schemas.microsoft.com/office/drawing/2014/main" id="{30BDCDD3-83DA-BA85-7FA3-94E26A9487B7}"/>
              </a:ext>
            </a:extLst>
          </p:cNvPr>
          <p:cNvPicPr>
            <a:picLocks noChangeAspect="1"/>
          </p:cNvPicPr>
          <p:nvPr/>
        </p:nvPicPr>
        <p:blipFill>
          <a:blip r:embed="rId2"/>
          <a:stretch>
            <a:fillRect/>
          </a:stretch>
        </p:blipFill>
        <p:spPr>
          <a:xfrm>
            <a:off x="9127958" y="2334308"/>
            <a:ext cx="2826420" cy="4403558"/>
          </a:xfrm>
          <a:prstGeom prst="rect">
            <a:avLst/>
          </a:prstGeom>
        </p:spPr>
      </p:pic>
      <p:pic>
        <p:nvPicPr>
          <p:cNvPr id="10" name="Imagen 9">
            <a:extLst>
              <a:ext uri="{FF2B5EF4-FFF2-40B4-BE49-F238E27FC236}">
                <a16:creationId xmlns:a16="http://schemas.microsoft.com/office/drawing/2014/main" id="{E8DD5BB6-579C-D04C-D2A4-03B48B82604E}"/>
              </a:ext>
            </a:extLst>
          </p:cNvPr>
          <p:cNvPicPr>
            <a:picLocks noChangeAspect="1"/>
          </p:cNvPicPr>
          <p:nvPr/>
        </p:nvPicPr>
        <p:blipFill>
          <a:blip r:embed="rId3"/>
          <a:stretch>
            <a:fillRect/>
          </a:stretch>
        </p:blipFill>
        <p:spPr>
          <a:xfrm>
            <a:off x="184484" y="2334308"/>
            <a:ext cx="4114800" cy="4403558"/>
          </a:xfrm>
          <a:prstGeom prst="rect">
            <a:avLst/>
          </a:prstGeom>
        </p:spPr>
      </p:pic>
      <p:pic>
        <p:nvPicPr>
          <p:cNvPr id="12" name="Imagen 11">
            <a:extLst>
              <a:ext uri="{FF2B5EF4-FFF2-40B4-BE49-F238E27FC236}">
                <a16:creationId xmlns:a16="http://schemas.microsoft.com/office/drawing/2014/main" id="{C4E46DA8-0B7B-69B2-16D6-B0F02B4C3CB4}"/>
              </a:ext>
            </a:extLst>
          </p:cNvPr>
          <p:cNvPicPr>
            <a:picLocks noChangeAspect="1"/>
          </p:cNvPicPr>
          <p:nvPr/>
        </p:nvPicPr>
        <p:blipFill>
          <a:blip r:embed="rId4"/>
          <a:stretch>
            <a:fillRect/>
          </a:stretch>
        </p:blipFill>
        <p:spPr>
          <a:xfrm>
            <a:off x="4427621" y="2321914"/>
            <a:ext cx="4572000" cy="4403558"/>
          </a:xfrm>
          <a:prstGeom prst="rect">
            <a:avLst/>
          </a:prstGeom>
        </p:spPr>
      </p:pic>
    </p:spTree>
    <p:extLst>
      <p:ext uri="{BB962C8B-B14F-4D97-AF65-F5344CB8AC3E}">
        <p14:creationId xmlns:p14="http://schemas.microsoft.com/office/powerpoint/2010/main" val="3506935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7FB84-E715-91DE-DCB9-21638770B28C}"/>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E0DEEB72-5ABC-8971-AC41-5324F7899E45}"/>
              </a:ext>
            </a:extLst>
          </p:cNvPr>
          <p:cNvPicPr>
            <a:picLocks noChangeAspect="1"/>
          </p:cNvPicPr>
          <p:nvPr/>
        </p:nvPicPr>
        <p:blipFill>
          <a:blip r:embed="rId2"/>
          <a:stretch>
            <a:fillRect/>
          </a:stretch>
        </p:blipFill>
        <p:spPr>
          <a:xfrm>
            <a:off x="420132" y="1962706"/>
            <a:ext cx="5675868" cy="4686914"/>
          </a:xfrm>
          <a:prstGeom prst="rect">
            <a:avLst/>
          </a:prstGeom>
        </p:spPr>
      </p:pic>
      <p:pic>
        <p:nvPicPr>
          <p:cNvPr id="5" name="Imagen 4">
            <a:extLst>
              <a:ext uri="{FF2B5EF4-FFF2-40B4-BE49-F238E27FC236}">
                <a16:creationId xmlns:a16="http://schemas.microsoft.com/office/drawing/2014/main" id="{2129A5E0-6847-6560-66A6-CD003C482FF4}"/>
              </a:ext>
            </a:extLst>
          </p:cNvPr>
          <p:cNvPicPr>
            <a:picLocks noChangeAspect="1"/>
          </p:cNvPicPr>
          <p:nvPr/>
        </p:nvPicPr>
        <p:blipFill>
          <a:blip r:embed="rId3"/>
          <a:stretch>
            <a:fillRect/>
          </a:stretch>
        </p:blipFill>
        <p:spPr>
          <a:xfrm>
            <a:off x="6559870" y="1962706"/>
            <a:ext cx="5360765" cy="4686914"/>
          </a:xfrm>
          <a:prstGeom prst="rect">
            <a:avLst/>
          </a:prstGeom>
        </p:spPr>
      </p:pic>
      <p:sp>
        <p:nvSpPr>
          <p:cNvPr id="7" name="CuadroTexto 6">
            <a:extLst>
              <a:ext uri="{FF2B5EF4-FFF2-40B4-BE49-F238E27FC236}">
                <a16:creationId xmlns:a16="http://schemas.microsoft.com/office/drawing/2014/main" id="{463E3576-CD18-3CBF-8BCE-6004910DAE83}"/>
              </a:ext>
            </a:extLst>
          </p:cNvPr>
          <p:cNvSpPr txBox="1"/>
          <p:nvPr/>
        </p:nvSpPr>
        <p:spPr>
          <a:xfrm>
            <a:off x="420131" y="208380"/>
            <a:ext cx="11500503" cy="1569660"/>
          </a:xfrm>
          <a:prstGeom prst="rect">
            <a:avLst/>
          </a:prstGeom>
          <a:noFill/>
        </p:spPr>
        <p:txBody>
          <a:bodyPr wrap="square">
            <a:spAutoFit/>
          </a:bodyPr>
          <a:lstStyle/>
          <a:p>
            <a:pPr lvl="0" algn="just">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3. En su sesión </a:t>
            </a:r>
            <a:r>
              <a:rPr lang="es-MX" sz="1600" b="1" kern="100" dirty="0">
                <a:effectLst/>
                <a:latin typeface="+mn-lt"/>
                <a:ea typeface="Calibri" panose="020F0502020204030204" pitchFamily="34" charset="0"/>
                <a:cs typeface="Times New Roman" panose="02020603050405020304" pitchFamily="18" charset="0"/>
              </a:rPr>
              <a:t>OPERADOR DE VENEZUELA</a:t>
            </a:r>
            <a:r>
              <a:rPr lang="es-MX" sz="1600" kern="100" dirty="0">
                <a:effectLst/>
                <a:latin typeface="+mn-lt"/>
                <a:ea typeface="Calibri" panose="020F0502020204030204" pitchFamily="34" charset="0"/>
                <a:cs typeface="Times New Roman" panose="02020603050405020304" pitchFamily="18" charset="0"/>
              </a:rPr>
              <a:t>, en Menú que se ubica en la parte inferior, encontrará </a:t>
            </a:r>
            <a:r>
              <a:rPr lang="es-MX" sz="1600" b="1" kern="100" dirty="0">
                <a:effectLst/>
                <a:latin typeface="+mn-lt"/>
                <a:ea typeface="Calibri" panose="020F0502020204030204" pitchFamily="34" charset="0"/>
                <a:cs typeface="Times New Roman" panose="02020603050405020304" pitchFamily="18" charset="0"/>
              </a:rPr>
              <a:t>ESTADISTICAS</a:t>
            </a:r>
            <a:r>
              <a:rPr lang="es-MX" sz="1600" kern="100" dirty="0">
                <a:effectLst/>
                <a:latin typeface="+mn-lt"/>
                <a:ea typeface="Calibri" panose="020F0502020204030204" pitchFamily="34" charset="0"/>
                <a:cs typeface="Times New Roman" panose="02020603050405020304" pitchFamily="18" charset="0"/>
              </a:rPr>
              <a:t>, podrá acceder a información de las estadísticas de operaciones como:  número de operaciones, total de monto en PEN, total de monto transferido a beneficiarios a Venezuela en VES, Comisión equipo Venezuela en PEN y VES,  y su nombre, Gráficos de barra, circular y línea. Detalle de cada operación (cuando fue generada y atendida con fecha y hora, Tiempo de respuesta total, monto depositado en PEN y transferido en VES y la cuenta del Beneficiario, comisiones en PE, transferencia a Venezuela en VES, descargas en EXCEL y PDF con todos sus datos respectivos.</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13126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75FC0-5D05-C198-B832-DE80B626F57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D9AE6456-80E9-754F-481A-4C2F250214A6}"/>
              </a:ext>
            </a:extLst>
          </p:cNvPr>
          <p:cNvPicPr>
            <a:picLocks noChangeAspect="1"/>
          </p:cNvPicPr>
          <p:nvPr/>
        </p:nvPicPr>
        <p:blipFill>
          <a:blip r:embed="rId2"/>
          <a:stretch>
            <a:fillRect/>
          </a:stretch>
        </p:blipFill>
        <p:spPr>
          <a:xfrm>
            <a:off x="6320589" y="197085"/>
            <a:ext cx="5534525" cy="6463829"/>
          </a:xfrm>
          <a:prstGeom prst="rect">
            <a:avLst/>
          </a:prstGeom>
        </p:spPr>
      </p:pic>
      <p:sp>
        <p:nvSpPr>
          <p:cNvPr id="8" name="CuadroTexto 7">
            <a:extLst>
              <a:ext uri="{FF2B5EF4-FFF2-40B4-BE49-F238E27FC236}">
                <a16:creationId xmlns:a16="http://schemas.microsoft.com/office/drawing/2014/main" id="{CDFF8223-F305-38AA-F4F1-0D1C69652A7B}"/>
              </a:ext>
            </a:extLst>
          </p:cNvPr>
          <p:cNvSpPr txBox="1"/>
          <p:nvPr/>
        </p:nvSpPr>
        <p:spPr>
          <a:xfrm>
            <a:off x="224589" y="2194383"/>
            <a:ext cx="5646823" cy="1569660"/>
          </a:xfrm>
          <a:prstGeom prst="rect">
            <a:avLst/>
          </a:prstGeom>
          <a:noFill/>
        </p:spPr>
        <p:txBody>
          <a:bodyPr wrap="square">
            <a:spAutoFit/>
          </a:bodyPr>
          <a:lstStyle/>
          <a:p>
            <a:pPr lvl="0" algn="just">
              <a:lnSpc>
                <a:spcPct val="100000"/>
              </a:lnSpc>
              <a:spcAft>
                <a:spcPts val="800"/>
              </a:spcAft>
              <a:buSzPts val="1100"/>
            </a:pPr>
            <a:r>
              <a:rPr lang="es-MX" sz="1600" kern="100" dirty="0">
                <a:ea typeface="Calibri" panose="020F0502020204030204" pitchFamily="34" charset="0"/>
                <a:cs typeface="Times New Roman" panose="02020603050405020304" pitchFamily="18" charset="0"/>
              </a:rPr>
              <a:t>4</a:t>
            </a:r>
            <a:r>
              <a:rPr lang="es-MX" sz="1600" kern="100" dirty="0">
                <a:effectLst/>
                <a:latin typeface="+mn-lt"/>
                <a:ea typeface="Calibri" panose="020F0502020204030204" pitchFamily="34" charset="0"/>
                <a:cs typeface="Times New Roman" panose="02020603050405020304" pitchFamily="18" charset="0"/>
              </a:rPr>
              <a:t>. En su sesión </a:t>
            </a:r>
            <a:r>
              <a:rPr lang="es-MX" sz="1600" b="1" kern="100" dirty="0">
                <a:effectLst/>
                <a:latin typeface="+mn-lt"/>
                <a:ea typeface="Calibri" panose="020F0502020204030204" pitchFamily="34" charset="0"/>
                <a:cs typeface="Times New Roman" panose="02020603050405020304" pitchFamily="18" charset="0"/>
              </a:rPr>
              <a:t>OPERADOR DE VENEZUELA</a:t>
            </a:r>
            <a:r>
              <a:rPr lang="es-MX" sz="1600" kern="100" dirty="0">
                <a:effectLst/>
                <a:latin typeface="+mn-lt"/>
                <a:ea typeface="Calibri" panose="020F0502020204030204" pitchFamily="34" charset="0"/>
                <a:cs typeface="Times New Roman" panose="02020603050405020304" pitchFamily="18" charset="0"/>
              </a:rPr>
              <a:t>, en Menú que se ubica en la parte inferior, encontrará </a:t>
            </a:r>
            <a:r>
              <a:rPr lang="es-MX" sz="1600" b="1" kern="100" dirty="0">
                <a:effectLst/>
                <a:latin typeface="+mn-lt"/>
                <a:ea typeface="Calibri" panose="020F0502020204030204" pitchFamily="34" charset="0"/>
                <a:cs typeface="Times New Roman" panose="02020603050405020304" pitchFamily="18" charset="0"/>
              </a:rPr>
              <a:t>PERFIL,</a:t>
            </a:r>
            <a:r>
              <a:rPr lang="es-MX" sz="1600" kern="100" dirty="0">
                <a:effectLst/>
                <a:latin typeface="+mn-lt"/>
                <a:ea typeface="Calibri" panose="020F0502020204030204" pitchFamily="34" charset="0"/>
                <a:cs typeface="Times New Roman" panose="02020603050405020304" pitchFamily="18" charset="0"/>
              </a:rPr>
              <a:t> podrá visualizar su rol, datos (nombre, correo y teléfono), % Comisión asignada e </a:t>
            </a:r>
            <a:r>
              <a:rPr lang="es-MX" sz="1600" kern="100" dirty="0" err="1">
                <a:effectLst/>
                <a:latin typeface="+mn-lt"/>
                <a:ea typeface="Calibri" panose="020F0502020204030204" pitchFamily="34" charset="0"/>
                <a:cs typeface="Times New Roman" panose="02020603050405020304" pitchFamily="18" charset="0"/>
              </a:rPr>
              <a:t>info</a:t>
            </a:r>
            <a:r>
              <a:rPr lang="es-MX" sz="1600" kern="100" dirty="0">
                <a:effectLst/>
                <a:latin typeface="+mn-lt"/>
                <a:ea typeface="Calibri" panose="020F0502020204030204" pitchFamily="34" charset="0"/>
                <a:cs typeface="Times New Roman" panose="02020603050405020304" pitchFamily="18" charset="0"/>
              </a:rPr>
              <a:t> para Instalar la app en el celular y verlo con un botón de acceso directo en el móvil con opción a enviar por WhatsApp/</a:t>
            </a:r>
            <a:r>
              <a:rPr lang="es-MX" sz="1600" kern="100" dirty="0" err="1">
                <a:effectLst/>
                <a:latin typeface="+mn-lt"/>
                <a:ea typeface="Calibri" panose="020F0502020204030204" pitchFamily="34" charset="0"/>
                <a:cs typeface="Times New Roman" panose="02020603050405020304" pitchFamily="18" charset="0"/>
              </a:rPr>
              <a:t>Telegram</a:t>
            </a:r>
            <a:r>
              <a:rPr lang="es-MX" sz="1600" kern="100" dirty="0">
                <a:effectLst/>
                <a:latin typeface="+mn-lt"/>
                <a:ea typeface="Calibri" panose="020F0502020204030204" pitchFamily="34" charset="0"/>
                <a:cs typeface="Times New Roman" panose="02020603050405020304" pitchFamily="18" charset="0"/>
              </a:rPr>
              <a:t> al cliente.</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550846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D939-975A-8957-C2E6-D2B951870CD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CB9AE21-A191-30AE-17A0-B1247DAF542D}"/>
              </a:ext>
            </a:extLst>
          </p:cNvPr>
          <p:cNvSpPr txBox="1"/>
          <p:nvPr/>
        </p:nvSpPr>
        <p:spPr>
          <a:xfrm>
            <a:off x="423259" y="212239"/>
            <a:ext cx="11428424" cy="923330"/>
          </a:xfrm>
          <a:prstGeom prst="rect">
            <a:avLst/>
          </a:prstGeom>
          <a:noFill/>
        </p:spPr>
        <p:txBody>
          <a:bodyPr wrap="square">
            <a:spAutoFit/>
          </a:bodyPr>
          <a:lstStyle/>
          <a:p>
            <a:pPr lvl="0" algn="just">
              <a:lnSpc>
                <a:spcPct val="100000"/>
              </a:lnSpc>
              <a:spcAft>
                <a:spcPts val="800"/>
              </a:spcAft>
            </a:pPr>
            <a:r>
              <a:rPr lang="es-MX" sz="1800" kern="100" dirty="0">
                <a:effectLst/>
                <a:latin typeface="+mn-lt"/>
                <a:ea typeface="Calibri" panose="020F0502020204030204" pitchFamily="34" charset="0"/>
                <a:cs typeface="Times New Roman" panose="02020603050405020304" pitchFamily="18" charset="0"/>
              </a:rPr>
              <a:t>1. El </a:t>
            </a:r>
            <a:r>
              <a:rPr lang="es-MX" sz="1800" b="1" kern="100" dirty="0">
                <a:effectLst/>
                <a:latin typeface="+mn-lt"/>
                <a:ea typeface="Calibri" panose="020F0502020204030204" pitchFamily="34" charset="0"/>
                <a:cs typeface="Times New Roman" panose="02020603050405020304" pitchFamily="18" charset="0"/>
              </a:rPr>
              <a:t>CLIENTE</a:t>
            </a:r>
            <a:r>
              <a:rPr lang="es-MX" sz="1800" kern="100" dirty="0">
                <a:effectLst/>
                <a:latin typeface="+mn-lt"/>
                <a:ea typeface="Calibri" panose="020F0502020204030204" pitchFamily="34" charset="0"/>
                <a:cs typeface="Times New Roman" panose="02020603050405020304" pitchFamily="18" charset="0"/>
              </a:rPr>
              <a:t> es invitado por El Operador principal de Perú </a:t>
            </a:r>
            <a:r>
              <a:rPr lang="es-MX" sz="1800" kern="100" dirty="0" err="1">
                <a:effectLst/>
                <a:latin typeface="+mn-lt"/>
                <a:ea typeface="Calibri" panose="020F0502020204030204" pitchFamily="34" charset="0"/>
                <a:cs typeface="Times New Roman" panose="02020603050405020304" pitchFamily="18" charset="0"/>
              </a:rPr>
              <a:t>ó</a:t>
            </a:r>
            <a:r>
              <a:rPr lang="es-MX" sz="1800" kern="100" dirty="0">
                <a:effectLst/>
                <a:latin typeface="+mn-lt"/>
                <a:ea typeface="Calibri" panose="020F0502020204030204" pitchFamily="34" charset="0"/>
                <a:cs typeface="Times New Roman" panose="02020603050405020304" pitchFamily="18" charset="0"/>
              </a:rPr>
              <a:t> el operador de Perú miembro a través de un mensaje por </a:t>
            </a:r>
            <a:r>
              <a:rPr lang="es-MX" sz="1800" kern="100" dirty="0" err="1">
                <a:effectLst/>
                <a:latin typeface="+mn-lt"/>
                <a:ea typeface="Calibri" panose="020F0502020204030204" pitchFamily="34" charset="0"/>
                <a:cs typeface="Times New Roman" panose="02020603050405020304" pitchFamily="18" charset="0"/>
              </a:rPr>
              <a:t>Whatsapp</a:t>
            </a:r>
            <a:r>
              <a:rPr lang="es-MX" sz="1800" kern="100" dirty="0">
                <a:effectLst/>
                <a:latin typeface="+mn-lt"/>
                <a:ea typeface="Calibri" panose="020F0502020204030204" pitchFamily="34" charset="0"/>
                <a:cs typeface="Times New Roman" panose="02020603050405020304" pitchFamily="18" charset="0"/>
              </a:rPr>
              <a:t> (</a:t>
            </a:r>
            <a:r>
              <a:rPr lang="es-MX" sz="1800" kern="100" dirty="0" err="1">
                <a:effectLst/>
                <a:latin typeface="+mn-lt"/>
                <a:ea typeface="Calibri" panose="020F0502020204030204" pitchFamily="34" charset="0"/>
                <a:cs typeface="Times New Roman" panose="02020603050405020304" pitchFamily="18" charset="0"/>
              </a:rPr>
              <a:t>wa.me</a:t>
            </a:r>
            <a:r>
              <a:rPr lang="es-MX" sz="1800" kern="100" dirty="0">
                <a:effectLst/>
                <a:latin typeface="+mn-lt"/>
                <a:ea typeface="Calibri" panose="020F0502020204030204" pitchFamily="34" charset="0"/>
                <a:cs typeface="Times New Roman" panose="02020603050405020304" pitchFamily="18" charset="0"/>
              </a:rPr>
              <a:t>), donde accede primeramente al una </a:t>
            </a:r>
            <a:r>
              <a:rPr lang="es-MX" kern="100" dirty="0">
                <a:ea typeface="Calibri" panose="020F0502020204030204" pitchFamily="34" charset="0"/>
                <a:cs typeface="Times New Roman" panose="02020603050405020304" pitchFamily="18" charset="0"/>
              </a:rPr>
              <a:t>L</a:t>
            </a:r>
            <a:r>
              <a:rPr lang="es-MX" sz="1800" kern="100" dirty="0">
                <a:effectLst/>
                <a:latin typeface="+mn-lt"/>
                <a:ea typeface="Calibri" panose="020F0502020204030204" pitchFamily="34" charset="0"/>
                <a:cs typeface="Times New Roman" panose="02020603050405020304" pitchFamily="18" charset="0"/>
              </a:rPr>
              <a:t>anding page (</a:t>
            </a:r>
            <a:r>
              <a:rPr lang="es-MX" sz="1800" u="sng" kern="100" dirty="0">
                <a:solidFill>
                  <a:schemeClr val="tx1"/>
                </a:solidFill>
                <a:effectLst/>
                <a:latin typeface="+mn-lt"/>
                <a:ea typeface="Calibri" panose="020F0502020204030204" pitchFamily="34" charset="0"/>
                <a:cs typeface="Times New Roman" panose="02020603050405020304" pitchFamily="18" charset="0"/>
                <a:hlinkClick r:id="rId2"/>
              </a:rPr>
              <a:t>https://remesas-envioya.vercel.app</a:t>
            </a:r>
            <a:r>
              <a:rPr lang="es-MX" sz="1800" kern="100" dirty="0">
                <a:effectLst/>
                <a:latin typeface="+mn-lt"/>
                <a:ea typeface="Calibri" panose="020F0502020204030204" pitchFamily="34" charset="0"/>
                <a:cs typeface="Times New Roman" panose="02020603050405020304" pitchFamily="18" charset="0"/>
              </a:rPr>
              <a:t>) y al accede en “ACCEDE YA” lo redirige a la sesión de Cliente directamente y vinculado al operador que lo haya invitado.</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B85BA89C-E6DA-E185-D2C0-92796CC73DA2}"/>
              </a:ext>
            </a:extLst>
          </p:cNvPr>
          <p:cNvPicPr>
            <a:picLocks noChangeAspect="1"/>
          </p:cNvPicPr>
          <p:nvPr/>
        </p:nvPicPr>
        <p:blipFill>
          <a:blip r:embed="rId3"/>
          <a:stretch>
            <a:fillRect/>
          </a:stretch>
        </p:blipFill>
        <p:spPr>
          <a:xfrm>
            <a:off x="333072" y="1135569"/>
            <a:ext cx="5208377" cy="2439154"/>
          </a:xfrm>
          <a:prstGeom prst="rect">
            <a:avLst/>
          </a:prstGeom>
        </p:spPr>
      </p:pic>
      <p:pic>
        <p:nvPicPr>
          <p:cNvPr id="7" name="Imagen 6">
            <a:extLst>
              <a:ext uri="{FF2B5EF4-FFF2-40B4-BE49-F238E27FC236}">
                <a16:creationId xmlns:a16="http://schemas.microsoft.com/office/drawing/2014/main" id="{BB659CEC-06F5-83AB-2481-C98DCEFBC6E4}"/>
              </a:ext>
            </a:extLst>
          </p:cNvPr>
          <p:cNvPicPr>
            <a:picLocks noChangeAspect="1"/>
          </p:cNvPicPr>
          <p:nvPr/>
        </p:nvPicPr>
        <p:blipFill>
          <a:blip r:embed="rId4"/>
          <a:stretch>
            <a:fillRect/>
          </a:stretch>
        </p:blipFill>
        <p:spPr>
          <a:xfrm>
            <a:off x="333072" y="3662282"/>
            <a:ext cx="5208377" cy="1853693"/>
          </a:xfrm>
          <a:prstGeom prst="rect">
            <a:avLst/>
          </a:prstGeom>
        </p:spPr>
      </p:pic>
      <p:pic>
        <p:nvPicPr>
          <p:cNvPr id="9" name="Imagen 8">
            <a:extLst>
              <a:ext uri="{FF2B5EF4-FFF2-40B4-BE49-F238E27FC236}">
                <a16:creationId xmlns:a16="http://schemas.microsoft.com/office/drawing/2014/main" id="{F0CF62A6-84C3-3CAD-6AC2-6D2E0C1BE105}"/>
              </a:ext>
            </a:extLst>
          </p:cNvPr>
          <p:cNvPicPr>
            <a:picLocks noChangeAspect="1"/>
          </p:cNvPicPr>
          <p:nvPr/>
        </p:nvPicPr>
        <p:blipFill>
          <a:blip r:embed="rId5"/>
          <a:stretch>
            <a:fillRect/>
          </a:stretch>
        </p:blipFill>
        <p:spPr>
          <a:xfrm>
            <a:off x="140230" y="5603534"/>
            <a:ext cx="5594060" cy="1211179"/>
          </a:xfrm>
          <a:prstGeom prst="rect">
            <a:avLst/>
          </a:prstGeom>
        </p:spPr>
      </p:pic>
      <p:pic>
        <p:nvPicPr>
          <p:cNvPr id="11" name="Imagen 10">
            <a:extLst>
              <a:ext uri="{FF2B5EF4-FFF2-40B4-BE49-F238E27FC236}">
                <a16:creationId xmlns:a16="http://schemas.microsoft.com/office/drawing/2014/main" id="{62264E3D-70F1-3C42-A76F-A895249F052E}"/>
              </a:ext>
            </a:extLst>
          </p:cNvPr>
          <p:cNvPicPr>
            <a:picLocks noChangeAspect="1"/>
          </p:cNvPicPr>
          <p:nvPr/>
        </p:nvPicPr>
        <p:blipFill>
          <a:blip r:embed="rId6"/>
          <a:stretch>
            <a:fillRect/>
          </a:stretch>
        </p:blipFill>
        <p:spPr>
          <a:xfrm>
            <a:off x="6011615" y="1350694"/>
            <a:ext cx="5840068" cy="2539971"/>
          </a:xfrm>
          <a:prstGeom prst="rect">
            <a:avLst/>
          </a:prstGeom>
        </p:spPr>
      </p:pic>
      <p:pic>
        <p:nvPicPr>
          <p:cNvPr id="4" name="Imagen 3">
            <a:extLst>
              <a:ext uri="{FF2B5EF4-FFF2-40B4-BE49-F238E27FC236}">
                <a16:creationId xmlns:a16="http://schemas.microsoft.com/office/drawing/2014/main" id="{ED3792CC-C5B0-19D1-F0C7-6FEDE56C23A6}"/>
              </a:ext>
            </a:extLst>
          </p:cNvPr>
          <p:cNvPicPr>
            <a:picLocks noChangeAspect="1"/>
          </p:cNvPicPr>
          <p:nvPr/>
        </p:nvPicPr>
        <p:blipFill>
          <a:blip r:embed="rId7"/>
          <a:stretch>
            <a:fillRect/>
          </a:stretch>
        </p:blipFill>
        <p:spPr>
          <a:xfrm>
            <a:off x="6095999" y="4105790"/>
            <a:ext cx="5755683" cy="2630918"/>
          </a:xfrm>
          <a:prstGeom prst="rect">
            <a:avLst/>
          </a:prstGeom>
        </p:spPr>
      </p:pic>
    </p:spTree>
    <p:extLst>
      <p:ext uri="{BB962C8B-B14F-4D97-AF65-F5344CB8AC3E}">
        <p14:creationId xmlns:p14="http://schemas.microsoft.com/office/powerpoint/2010/main" val="11114113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FBEE8-50D2-DD84-C104-63A655BEFDDF}"/>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597DBE69-8D2C-24ED-F583-2CE0EDB34D23}"/>
              </a:ext>
            </a:extLst>
          </p:cNvPr>
          <p:cNvSpPr txBox="1"/>
          <p:nvPr/>
        </p:nvSpPr>
        <p:spPr>
          <a:xfrm>
            <a:off x="507644" y="253287"/>
            <a:ext cx="11176712" cy="1200329"/>
          </a:xfrm>
          <a:prstGeom prst="rect">
            <a:avLst/>
          </a:prstGeom>
          <a:noFill/>
        </p:spPr>
        <p:txBody>
          <a:bodyPr wrap="square">
            <a:spAutoFit/>
          </a:bodyPr>
          <a:lstStyle/>
          <a:p>
            <a:pPr lvl="0" algn="just">
              <a:lnSpc>
                <a:spcPct val="100000"/>
              </a:lnSpc>
              <a:spcAft>
                <a:spcPts val="800"/>
              </a:spcAft>
            </a:pPr>
            <a:r>
              <a:rPr lang="es-MX" sz="1800" kern="100" dirty="0">
                <a:effectLst/>
                <a:latin typeface="+mn-lt"/>
                <a:ea typeface="Calibri" panose="020F0502020204030204" pitchFamily="34" charset="0"/>
                <a:cs typeface="Times New Roman" panose="02020603050405020304" pitchFamily="18" charset="0"/>
              </a:rPr>
              <a:t>1. El </a:t>
            </a:r>
            <a:r>
              <a:rPr lang="es-MX" sz="1800" b="1" kern="100" dirty="0">
                <a:effectLst/>
                <a:latin typeface="+mn-lt"/>
                <a:ea typeface="Calibri" panose="020F0502020204030204" pitchFamily="34" charset="0"/>
                <a:cs typeface="Times New Roman" panose="02020603050405020304" pitchFamily="18" charset="0"/>
              </a:rPr>
              <a:t>CLIENTE</a:t>
            </a:r>
            <a:r>
              <a:rPr lang="es-MX" sz="1800" kern="100" dirty="0">
                <a:effectLst/>
                <a:latin typeface="+mn-lt"/>
                <a:ea typeface="Calibri" panose="020F0502020204030204" pitchFamily="34" charset="0"/>
                <a:cs typeface="Times New Roman" panose="02020603050405020304" pitchFamily="18" charset="0"/>
              </a:rPr>
              <a:t> es invitado por El </a:t>
            </a:r>
            <a:r>
              <a:rPr lang="es-MX" sz="1800" b="1" kern="100" dirty="0">
                <a:effectLst/>
                <a:latin typeface="+mn-lt"/>
                <a:ea typeface="Calibri" panose="020F0502020204030204" pitchFamily="34" charset="0"/>
                <a:cs typeface="Times New Roman" panose="02020603050405020304" pitchFamily="18" charset="0"/>
              </a:rPr>
              <a:t>OPERADOR PRINCIPAL DE PERÚ </a:t>
            </a:r>
            <a:r>
              <a:rPr lang="es-MX" sz="1800" kern="100" dirty="0" err="1">
                <a:effectLst/>
                <a:latin typeface="+mn-lt"/>
                <a:ea typeface="Calibri" panose="020F0502020204030204" pitchFamily="34" charset="0"/>
                <a:cs typeface="Times New Roman" panose="02020603050405020304" pitchFamily="18" charset="0"/>
              </a:rPr>
              <a:t>ó</a:t>
            </a:r>
            <a:r>
              <a:rPr lang="es-MX" sz="1800" kern="100" dirty="0">
                <a:effectLst/>
                <a:latin typeface="+mn-lt"/>
                <a:ea typeface="Calibri" panose="020F0502020204030204" pitchFamily="34" charset="0"/>
                <a:cs typeface="Times New Roman" panose="02020603050405020304" pitchFamily="18" charset="0"/>
              </a:rPr>
              <a:t> el operador de Perú miembro a través de un mensaje por </a:t>
            </a:r>
            <a:r>
              <a:rPr lang="es-MX" sz="1800" kern="100" dirty="0" err="1">
                <a:effectLst/>
                <a:latin typeface="+mn-lt"/>
                <a:ea typeface="Calibri" panose="020F0502020204030204" pitchFamily="34" charset="0"/>
                <a:cs typeface="Times New Roman" panose="02020603050405020304" pitchFamily="18" charset="0"/>
              </a:rPr>
              <a:t>Whatsapp</a:t>
            </a:r>
            <a:r>
              <a:rPr lang="es-MX" sz="1800" kern="100" dirty="0">
                <a:effectLst/>
                <a:latin typeface="+mn-lt"/>
                <a:ea typeface="Calibri" panose="020F0502020204030204" pitchFamily="34" charset="0"/>
                <a:cs typeface="Times New Roman" panose="02020603050405020304" pitchFamily="18" charset="0"/>
              </a:rPr>
              <a:t> (</a:t>
            </a:r>
            <a:r>
              <a:rPr lang="es-MX" sz="1800" kern="100" dirty="0" err="1">
                <a:effectLst/>
                <a:latin typeface="+mn-lt"/>
                <a:ea typeface="Calibri" panose="020F0502020204030204" pitchFamily="34" charset="0"/>
                <a:cs typeface="Times New Roman" panose="02020603050405020304" pitchFamily="18" charset="0"/>
              </a:rPr>
              <a:t>wa.me</a:t>
            </a:r>
            <a:r>
              <a:rPr lang="es-MX" sz="1800" kern="100" dirty="0">
                <a:effectLst/>
                <a:latin typeface="+mn-lt"/>
                <a:ea typeface="Calibri" panose="020F0502020204030204" pitchFamily="34" charset="0"/>
                <a:cs typeface="Times New Roman" panose="02020603050405020304" pitchFamily="18" charset="0"/>
              </a:rPr>
              <a:t>), donde accede primeramente al una </a:t>
            </a:r>
            <a:r>
              <a:rPr lang="es-MX" sz="1800" kern="100" dirty="0" err="1">
                <a:effectLst/>
                <a:latin typeface="+mn-lt"/>
                <a:ea typeface="Calibri" panose="020F0502020204030204" pitchFamily="34" charset="0"/>
                <a:cs typeface="Times New Roman" panose="02020603050405020304" pitchFamily="18" charset="0"/>
              </a:rPr>
              <a:t>landing</a:t>
            </a:r>
            <a:r>
              <a:rPr lang="es-MX" sz="1800" kern="100" dirty="0">
                <a:effectLst/>
                <a:latin typeface="+mn-lt"/>
                <a:ea typeface="Calibri" panose="020F0502020204030204" pitchFamily="34" charset="0"/>
                <a:cs typeface="Times New Roman" panose="02020603050405020304" pitchFamily="18" charset="0"/>
              </a:rPr>
              <a:t> page (</a:t>
            </a:r>
            <a:r>
              <a:rPr lang="es-MX" sz="1800" u="sng" kern="100" dirty="0">
                <a:solidFill>
                  <a:schemeClr val="tx1"/>
                </a:solidFill>
                <a:effectLst/>
                <a:latin typeface="+mn-lt"/>
                <a:ea typeface="Calibri" panose="020F0502020204030204" pitchFamily="34" charset="0"/>
                <a:cs typeface="Times New Roman" panose="02020603050405020304" pitchFamily="18" charset="0"/>
                <a:hlinkClick r:id="rId2"/>
              </a:rPr>
              <a:t>https://remesas-envioya.vercel.app</a:t>
            </a:r>
            <a:r>
              <a:rPr lang="es-MX" sz="1800" kern="100" dirty="0">
                <a:effectLst/>
                <a:latin typeface="+mn-lt"/>
                <a:ea typeface="Calibri" panose="020F0502020204030204" pitchFamily="34" charset="0"/>
                <a:cs typeface="Times New Roman" panose="02020603050405020304" pitchFamily="18" charset="0"/>
              </a:rPr>
              <a:t>) y al accede en “ACCEDE YA” lo redirige a la sesión de Cliente directamente y vinculado al operador que lo haya invitado.</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3" name="Imagen 12">
            <a:extLst>
              <a:ext uri="{FF2B5EF4-FFF2-40B4-BE49-F238E27FC236}">
                <a16:creationId xmlns:a16="http://schemas.microsoft.com/office/drawing/2014/main" id="{34E5C54B-808A-1D2B-9C61-22CB37A51877}"/>
              </a:ext>
            </a:extLst>
          </p:cNvPr>
          <p:cNvPicPr>
            <a:picLocks noChangeAspect="1"/>
          </p:cNvPicPr>
          <p:nvPr/>
        </p:nvPicPr>
        <p:blipFill>
          <a:blip r:embed="rId3"/>
          <a:stretch>
            <a:fillRect/>
          </a:stretch>
        </p:blipFill>
        <p:spPr>
          <a:xfrm>
            <a:off x="133552" y="1668379"/>
            <a:ext cx="3437272" cy="5125395"/>
          </a:xfrm>
          <a:prstGeom prst="rect">
            <a:avLst/>
          </a:prstGeom>
        </p:spPr>
      </p:pic>
      <p:pic>
        <p:nvPicPr>
          <p:cNvPr id="15" name="Imagen 14">
            <a:extLst>
              <a:ext uri="{FF2B5EF4-FFF2-40B4-BE49-F238E27FC236}">
                <a16:creationId xmlns:a16="http://schemas.microsoft.com/office/drawing/2014/main" id="{DBB22533-544A-5BB1-B5CD-EFC63DE03289}"/>
              </a:ext>
            </a:extLst>
          </p:cNvPr>
          <p:cNvPicPr>
            <a:picLocks noChangeAspect="1"/>
          </p:cNvPicPr>
          <p:nvPr/>
        </p:nvPicPr>
        <p:blipFill>
          <a:blip r:embed="rId4"/>
          <a:stretch>
            <a:fillRect/>
          </a:stretch>
        </p:blipFill>
        <p:spPr>
          <a:xfrm>
            <a:off x="3746783" y="2597426"/>
            <a:ext cx="3873217" cy="3003884"/>
          </a:xfrm>
          <a:prstGeom prst="rect">
            <a:avLst/>
          </a:prstGeom>
        </p:spPr>
      </p:pic>
      <p:pic>
        <p:nvPicPr>
          <p:cNvPr id="17" name="Imagen 16">
            <a:extLst>
              <a:ext uri="{FF2B5EF4-FFF2-40B4-BE49-F238E27FC236}">
                <a16:creationId xmlns:a16="http://schemas.microsoft.com/office/drawing/2014/main" id="{4F05816E-C765-00AB-3C24-C9F476C9E9E6}"/>
              </a:ext>
            </a:extLst>
          </p:cNvPr>
          <p:cNvPicPr>
            <a:picLocks noChangeAspect="1"/>
          </p:cNvPicPr>
          <p:nvPr/>
        </p:nvPicPr>
        <p:blipFill>
          <a:blip r:embed="rId5"/>
          <a:stretch>
            <a:fillRect/>
          </a:stretch>
        </p:blipFill>
        <p:spPr>
          <a:xfrm>
            <a:off x="7709262" y="1535678"/>
            <a:ext cx="4180415" cy="5258095"/>
          </a:xfrm>
          <a:prstGeom prst="rect">
            <a:avLst/>
          </a:prstGeom>
        </p:spPr>
      </p:pic>
    </p:spTree>
    <p:extLst>
      <p:ext uri="{BB962C8B-B14F-4D97-AF65-F5344CB8AC3E}">
        <p14:creationId xmlns:p14="http://schemas.microsoft.com/office/powerpoint/2010/main" val="22669852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683C2-0194-BA22-8E66-FCB85C75246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79A6A7C7-4F77-8AE2-5FC7-BF06CE5095A5}"/>
              </a:ext>
            </a:extLst>
          </p:cNvPr>
          <p:cNvPicPr>
            <a:picLocks noChangeAspect="1"/>
          </p:cNvPicPr>
          <p:nvPr/>
        </p:nvPicPr>
        <p:blipFill>
          <a:blip r:embed="rId2"/>
          <a:stretch>
            <a:fillRect/>
          </a:stretch>
        </p:blipFill>
        <p:spPr>
          <a:xfrm>
            <a:off x="164350" y="2213642"/>
            <a:ext cx="4311398" cy="4462041"/>
          </a:xfrm>
          <a:prstGeom prst="rect">
            <a:avLst/>
          </a:prstGeom>
        </p:spPr>
      </p:pic>
      <p:pic>
        <p:nvPicPr>
          <p:cNvPr id="5" name="Imagen 4">
            <a:extLst>
              <a:ext uri="{FF2B5EF4-FFF2-40B4-BE49-F238E27FC236}">
                <a16:creationId xmlns:a16="http://schemas.microsoft.com/office/drawing/2014/main" id="{D4C921BC-774C-D673-08D6-25FE2803A828}"/>
              </a:ext>
            </a:extLst>
          </p:cNvPr>
          <p:cNvPicPr>
            <a:picLocks noChangeAspect="1"/>
          </p:cNvPicPr>
          <p:nvPr/>
        </p:nvPicPr>
        <p:blipFill>
          <a:blip r:embed="rId3"/>
          <a:stretch>
            <a:fillRect/>
          </a:stretch>
        </p:blipFill>
        <p:spPr>
          <a:xfrm>
            <a:off x="4551328" y="2477475"/>
            <a:ext cx="3549234" cy="3934374"/>
          </a:xfrm>
          <a:prstGeom prst="rect">
            <a:avLst/>
          </a:prstGeom>
        </p:spPr>
      </p:pic>
      <p:pic>
        <p:nvPicPr>
          <p:cNvPr id="7" name="Imagen 6">
            <a:extLst>
              <a:ext uri="{FF2B5EF4-FFF2-40B4-BE49-F238E27FC236}">
                <a16:creationId xmlns:a16="http://schemas.microsoft.com/office/drawing/2014/main" id="{ED2E2CE2-B84A-7426-4251-58DDB8A02646}"/>
              </a:ext>
            </a:extLst>
          </p:cNvPr>
          <p:cNvPicPr>
            <a:picLocks noChangeAspect="1"/>
          </p:cNvPicPr>
          <p:nvPr/>
        </p:nvPicPr>
        <p:blipFill>
          <a:blip r:embed="rId4"/>
          <a:stretch>
            <a:fillRect/>
          </a:stretch>
        </p:blipFill>
        <p:spPr>
          <a:xfrm>
            <a:off x="8176143" y="2255466"/>
            <a:ext cx="3851507" cy="4420217"/>
          </a:xfrm>
          <a:prstGeom prst="rect">
            <a:avLst/>
          </a:prstGeom>
        </p:spPr>
      </p:pic>
      <p:sp>
        <p:nvSpPr>
          <p:cNvPr id="9" name="CuadroTexto 8">
            <a:extLst>
              <a:ext uri="{FF2B5EF4-FFF2-40B4-BE49-F238E27FC236}">
                <a16:creationId xmlns:a16="http://schemas.microsoft.com/office/drawing/2014/main" id="{BAF1D420-6FF3-A592-D219-09B5D21933C8}"/>
              </a:ext>
            </a:extLst>
          </p:cNvPr>
          <p:cNvSpPr txBox="1"/>
          <p:nvPr/>
        </p:nvSpPr>
        <p:spPr>
          <a:xfrm>
            <a:off x="154365" y="182317"/>
            <a:ext cx="11873285" cy="1815882"/>
          </a:xfrm>
          <a:prstGeom prst="rect">
            <a:avLst/>
          </a:prstGeom>
          <a:noFill/>
        </p:spPr>
        <p:txBody>
          <a:bodyPr wrap="square">
            <a:spAutoFit/>
          </a:bodyPr>
          <a:lstStyle/>
          <a:p>
            <a:pPr lvl="0" algn="just">
              <a:lnSpc>
                <a:spcPct val="100000"/>
              </a:lnSpc>
              <a:spcAft>
                <a:spcPts val="800"/>
              </a:spcAft>
            </a:pPr>
            <a:r>
              <a:rPr lang="es-MX" sz="1600" kern="100" dirty="0">
                <a:ea typeface="Calibri" panose="020F0502020204030204" pitchFamily="34" charset="0"/>
                <a:cs typeface="Times New Roman" panose="02020603050405020304" pitchFamily="18" charset="0"/>
              </a:rPr>
              <a:t>2. </a:t>
            </a:r>
            <a:r>
              <a:rPr lang="es-MX" sz="1600" kern="100" dirty="0">
                <a:effectLst/>
                <a:latin typeface="+mn-lt"/>
                <a:ea typeface="Calibri" panose="020F0502020204030204" pitchFamily="34" charset="0"/>
                <a:cs typeface="Times New Roman" panose="02020603050405020304" pitchFamily="18" charset="0"/>
              </a:rPr>
              <a:t>En la sesión de </a:t>
            </a:r>
            <a:r>
              <a:rPr lang="es-MX" sz="1600" b="1" kern="100" dirty="0">
                <a:effectLst/>
                <a:latin typeface="+mn-lt"/>
                <a:ea typeface="Calibri" panose="020F0502020204030204" pitchFamily="34" charset="0"/>
                <a:cs typeface="Times New Roman" panose="02020603050405020304" pitchFamily="18" charset="0"/>
              </a:rPr>
              <a:t>CLIENTE</a:t>
            </a:r>
            <a:r>
              <a:rPr lang="es-MX" sz="1600" kern="100" dirty="0">
                <a:effectLst/>
                <a:latin typeface="+mn-lt"/>
                <a:ea typeface="Calibri" panose="020F0502020204030204" pitchFamily="34" charset="0"/>
                <a:cs typeface="Times New Roman" panose="02020603050405020304" pitchFamily="18" charset="0"/>
              </a:rPr>
              <a:t>, en la parte de menú, en </a:t>
            </a:r>
            <a:r>
              <a:rPr lang="es-MX" sz="1600" b="1" kern="100" dirty="0">
                <a:effectLst/>
                <a:latin typeface="+mn-lt"/>
                <a:ea typeface="Calibri" panose="020F0502020204030204" pitchFamily="34" charset="0"/>
                <a:cs typeface="Times New Roman" panose="02020603050405020304" pitchFamily="18" charset="0"/>
              </a:rPr>
              <a:t>INICIO</a:t>
            </a:r>
            <a:r>
              <a:rPr lang="es-MX" sz="1600" kern="100" dirty="0">
                <a:effectLst/>
                <a:latin typeface="+mn-lt"/>
                <a:ea typeface="Calibri" panose="020F0502020204030204" pitchFamily="34" charset="0"/>
                <a:cs typeface="Times New Roman" panose="02020603050405020304" pitchFamily="18" charset="0"/>
              </a:rPr>
              <a:t>, podrá visualizar  un mensaje de bienvenida indicando su nombre de cliente, la fecha y hora en tiempo real, un eslogan colocado por El </a:t>
            </a:r>
            <a:r>
              <a:rPr lang="es-MX" sz="1600" b="1" kern="100" dirty="0">
                <a:effectLst/>
                <a:latin typeface="+mn-lt"/>
                <a:ea typeface="Calibri" panose="020F0502020204030204" pitchFamily="34" charset="0"/>
                <a:cs typeface="Times New Roman" panose="02020603050405020304" pitchFamily="18" charset="0"/>
              </a:rPr>
              <a:t>OPERADOR PRINCIPAL DE PERÚ</a:t>
            </a:r>
            <a:r>
              <a:rPr lang="es-MX" sz="1600" kern="100" dirty="0">
                <a:effectLst/>
                <a:latin typeface="+mn-lt"/>
                <a:ea typeface="Calibri" panose="020F0502020204030204" pitchFamily="34" charset="0"/>
                <a:cs typeface="Times New Roman" panose="02020603050405020304" pitchFamily="18" charset="0"/>
              </a:rPr>
              <a:t>, Horario de atención, Tasa del día (Soles → Bolívares) fijado por los Operadores de Perú sea el caso, las BCV — USD / EUR actualizados día a día en tiempo real, Nueva solicitud para introducir el monto en Soles en </a:t>
            </a:r>
            <a:r>
              <a:rPr lang="es-MX" sz="1600" kern="100" dirty="0" err="1">
                <a:effectLst/>
                <a:latin typeface="+mn-lt"/>
                <a:ea typeface="Calibri" panose="020F0502020204030204" pitchFamily="34" charset="0"/>
                <a:cs typeface="Times New Roman" panose="02020603050405020304" pitchFamily="18" charset="0"/>
              </a:rPr>
              <a:t>ó</a:t>
            </a:r>
            <a:r>
              <a:rPr lang="es-MX" sz="1600" kern="100" dirty="0">
                <a:effectLst/>
                <a:latin typeface="+mn-lt"/>
                <a:ea typeface="Calibri" panose="020F0502020204030204" pitchFamily="34" charset="0"/>
                <a:cs typeface="Times New Roman" panose="02020603050405020304" pitchFamily="18" charset="0"/>
              </a:rPr>
              <a:t> usar la calculadora  USD / EUR donde le mostrará el monto en VES que será transferido a su beneficiario en Venezuela, los datos de su beneficiario (nombre completo, telf., </a:t>
            </a:r>
            <a:r>
              <a:rPr lang="es-MX" sz="1600" kern="100" dirty="0" err="1">
                <a:effectLst/>
                <a:latin typeface="+mn-lt"/>
                <a:ea typeface="Calibri" panose="020F0502020204030204" pitchFamily="34" charset="0"/>
                <a:cs typeface="Times New Roman" panose="02020603050405020304" pitchFamily="18" charset="0"/>
              </a:rPr>
              <a:t>c.i</a:t>
            </a:r>
            <a:r>
              <a:rPr lang="es-MX" sz="1600" kern="100" dirty="0">
                <a:effectLst/>
                <a:latin typeface="+mn-lt"/>
                <a:ea typeface="Calibri" panose="020F0502020204030204" pitchFamily="34" charset="0"/>
                <a:cs typeface="Times New Roman" panose="02020603050405020304" pitchFamily="18" charset="0"/>
              </a:rPr>
              <a:t>, tipo de transferencia, entidad bancaria y </a:t>
            </a:r>
            <a:r>
              <a:rPr lang="es-MX" sz="1600" kern="100" dirty="0" err="1">
                <a:effectLst/>
                <a:latin typeface="+mn-lt"/>
                <a:ea typeface="Calibri" panose="020F0502020204030204" pitchFamily="34" charset="0"/>
                <a:cs typeface="Times New Roman" panose="02020603050405020304" pitchFamily="18" charset="0"/>
              </a:rPr>
              <a:t>n°</a:t>
            </a:r>
            <a:r>
              <a:rPr lang="es-MX" sz="1600" kern="100" dirty="0">
                <a:effectLst/>
                <a:latin typeface="+mn-lt"/>
                <a:ea typeface="Calibri" panose="020F0502020204030204" pitchFamily="34" charset="0"/>
                <a:cs typeface="Times New Roman" panose="02020603050405020304" pitchFamily="18" charset="0"/>
              </a:rPr>
              <a:t> de cuenta con opción a ser guardados para posteriormente ser reusados, los Datos para pagar en Perú y la opción a carga el depósito según la forma de pago existente y enviar solicitud. </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21540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67823-34B5-F626-2144-DA7DAB2747C5}"/>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BCAD1071-1FCB-8DC3-309B-44F1E3ED090C}"/>
              </a:ext>
            </a:extLst>
          </p:cNvPr>
          <p:cNvSpPr txBox="1"/>
          <p:nvPr/>
        </p:nvSpPr>
        <p:spPr>
          <a:xfrm>
            <a:off x="154365" y="182317"/>
            <a:ext cx="11873285" cy="2031325"/>
          </a:xfrm>
          <a:prstGeom prst="rect">
            <a:avLst/>
          </a:prstGeom>
          <a:noFill/>
        </p:spPr>
        <p:txBody>
          <a:bodyPr wrap="square">
            <a:spAutoFit/>
          </a:bodyPr>
          <a:lstStyle/>
          <a:p>
            <a:pPr lvl="0" algn="just">
              <a:lnSpc>
                <a:spcPct val="100000"/>
              </a:lnSpc>
              <a:spcAft>
                <a:spcPts val="800"/>
              </a:spcAft>
            </a:pPr>
            <a:r>
              <a:rPr lang="es-MX" kern="100" dirty="0">
                <a:ea typeface="Calibri" panose="020F0502020204030204" pitchFamily="34" charset="0"/>
                <a:cs typeface="Times New Roman" panose="02020603050405020304" pitchFamily="18" charset="0"/>
              </a:rPr>
              <a:t>2. </a:t>
            </a:r>
            <a:r>
              <a:rPr lang="es-MX" kern="100" dirty="0">
                <a:effectLst/>
                <a:latin typeface="+mn-lt"/>
                <a:ea typeface="Calibri" panose="020F0502020204030204" pitchFamily="34" charset="0"/>
                <a:cs typeface="Times New Roman" panose="02020603050405020304" pitchFamily="18" charset="0"/>
              </a:rPr>
              <a:t>En la sesión de </a:t>
            </a:r>
            <a:r>
              <a:rPr lang="es-MX" b="1" kern="100" dirty="0">
                <a:effectLst/>
                <a:latin typeface="+mn-lt"/>
                <a:ea typeface="Calibri" panose="020F0502020204030204" pitchFamily="34" charset="0"/>
                <a:cs typeface="Times New Roman" panose="02020603050405020304" pitchFamily="18" charset="0"/>
              </a:rPr>
              <a:t>CLIENTE</a:t>
            </a:r>
            <a:r>
              <a:rPr lang="es-MX" kern="100" dirty="0">
                <a:effectLst/>
                <a:latin typeface="+mn-lt"/>
                <a:ea typeface="Calibri" panose="020F0502020204030204" pitchFamily="34" charset="0"/>
                <a:cs typeface="Times New Roman" panose="02020603050405020304" pitchFamily="18" charset="0"/>
              </a:rPr>
              <a:t>, en la parte de menú, en </a:t>
            </a:r>
            <a:r>
              <a:rPr lang="es-MX" b="1" kern="100" dirty="0">
                <a:effectLst/>
                <a:latin typeface="+mn-lt"/>
                <a:ea typeface="Calibri" panose="020F0502020204030204" pitchFamily="34" charset="0"/>
                <a:cs typeface="Times New Roman" panose="02020603050405020304" pitchFamily="18" charset="0"/>
              </a:rPr>
              <a:t>INICIO</a:t>
            </a:r>
            <a:r>
              <a:rPr lang="es-MX" kern="100" dirty="0">
                <a:effectLst/>
                <a:latin typeface="+mn-lt"/>
                <a:ea typeface="Calibri" panose="020F0502020204030204" pitchFamily="34" charset="0"/>
                <a:cs typeface="Times New Roman" panose="02020603050405020304" pitchFamily="18" charset="0"/>
              </a:rPr>
              <a:t>, podrá visualizar  un mensaje de bienvenida indicando su nombre de cliente, la fecha y hora en tiempo real, un eslogan colocado por El </a:t>
            </a:r>
            <a:r>
              <a:rPr lang="es-MX" b="1" kern="100" dirty="0">
                <a:effectLst/>
                <a:latin typeface="+mn-lt"/>
                <a:ea typeface="Calibri" panose="020F0502020204030204" pitchFamily="34" charset="0"/>
                <a:cs typeface="Times New Roman" panose="02020603050405020304" pitchFamily="18" charset="0"/>
              </a:rPr>
              <a:t>OPERADOR PRINCIPAL DE PERÚ</a:t>
            </a:r>
            <a:r>
              <a:rPr lang="es-MX" kern="100" dirty="0">
                <a:effectLst/>
                <a:latin typeface="+mn-lt"/>
                <a:ea typeface="Calibri" panose="020F0502020204030204" pitchFamily="34" charset="0"/>
                <a:cs typeface="Times New Roman" panose="02020603050405020304" pitchFamily="18" charset="0"/>
              </a:rPr>
              <a:t>, Horario de atención, Tasa del día (Soles → Bolívares) fijado por los Operadores de Perú sea el caso, las BCV — USD / EUR actualizados día a día en tiempo real, Nueva solicitud para introducir el monto en Soles en </a:t>
            </a:r>
            <a:r>
              <a:rPr lang="es-MX" kern="100" dirty="0" err="1">
                <a:effectLst/>
                <a:latin typeface="+mn-lt"/>
                <a:ea typeface="Calibri" panose="020F0502020204030204" pitchFamily="34" charset="0"/>
                <a:cs typeface="Times New Roman" panose="02020603050405020304" pitchFamily="18" charset="0"/>
              </a:rPr>
              <a:t>ó</a:t>
            </a:r>
            <a:r>
              <a:rPr lang="es-MX" kern="100" dirty="0">
                <a:effectLst/>
                <a:latin typeface="+mn-lt"/>
                <a:ea typeface="Calibri" panose="020F0502020204030204" pitchFamily="34" charset="0"/>
                <a:cs typeface="Times New Roman" panose="02020603050405020304" pitchFamily="18" charset="0"/>
              </a:rPr>
              <a:t> usar la calculadora  USD / EUR donde le mostrará el monto en VES que será transferido a su beneficiario en Venezuela, los datos de su beneficiario (nombre completo, telf., </a:t>
            </a:r>
            <a:r>
              <a:rPr lang="es-MX" kern="100" dirty="0" err="1">
                <a:effectLst/>
                <a:latin typeface="+mn-lt"/>
                <a:ea typeface="Calibri" panose="020F0502020204030204" pitchFamily="34" charset="0"/>
                <a:cs typeface="Times New Roman" panose="02020603050405020304" pitchFamily="18" charset="0"/>
              </a:rPr>
              <a:t>c.i</a:t>
            </a:r>
            <a:r>
              <a:rPr lang="es-MX" kern="100" dirty="0">
                <a:effectLst/>
                <a:latin typeface="+mn-lt"/>
                <a:ea typeface="Calibri" panose="020F0502020204030204" pitchFamily="34" charset="0"/>
                <a:cs typeface="Times New Roman" panose="02020603050405020304" pitchFamily="18" charset="0"/>
              </a:rPr>
              <a:t>, tipo de transferencia, entidad bancaria y </a:t>
            </a:r>
            <a:r>
              <a:rPr lang="es-MX" kern="100" dirty="0" err="1">
                <a:effectLst/>
                <a:latin typeface="+mn-lt"/>
                <a:ea typeface="Calibri" panose="020F0502020204030204" pitchFamily="34" charset="0"/>
                <a:cs typeface="Times New Roman" panose="02020603050405020304" pitchFamily="18" charset="0"/>
              </a:rPr>
              <a:t>n°</a:t>
            </a:r>
            <a:r>
              <a:rPr lang="es-MX" kern="100" dirty="0">
                <a:effectLst/>
                <a:latin typeface="+mn-lt"/>
                <a:ea typeface="Calibri" panose="020F0502020204030204" pitchFamily="34" charset="0"/>
                <a:cs typeface="Times New Roman" panose="02020603050405020304" pitchFamily="18" charset="0"/>
              </a:rPr>
              <a:t> de cuenta con opción a ser guardados para posteriormente ser reusados, los Datos para pagar en Perú y la opción a carga el depósito según la forma de pago existente y enviar solicitud. </a:t>
            </a:r>
            <a:endParaRPr lang="es-MX"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Imagen 7">
            <a:extLst>
              <a:ext uri="{FF2B5EF4-FFF2-40B4-BE49-F238E27FC236}">
                <a16:creationId xmlns:a16="http://schemas.microsoft.com/office/drawing/2014/main" id="{0954B67E-E070-FE6A-8189-6C990D1B3EF7}"/>
              </a:ext>
            </a:extLst>
          </p:cNvPr>
          <p:cNvPicPr>
            <a:picLocks noChangeAspect="1"/>
          </p:cNvPicPr>
          <p:nvPr/>
        </p:nvPicPr>
        <p:blipFill>
          <a:blip r:embed="rId2"/>
          <a:stretch>
            <a:fillRect/>
          </a:stretch>
        </p:blipFill>
        <p:spPr>
          <a:xfrm>
            <a:off x="154365" y="2270799"/>
            <a:ext cx="3916861" cy="4404884"/>
          </a:xfrm>
          <a:prstGeom prst="rect">
            <a:avLst/>
          </a:prstGeom>
        </p:spPr>
      </p:pic>
      <p:pic>
        <p:nvPicPr>
          <p:cNvPr id="10" name="Imagen 9">
            <a:extLst>
              <a:ext uri="{FF2B5EF4-FFF2-40B4-BE49-F238E27FC236}">
                <a16:creationId xmlns:a16="http://schemas.microsoft.com/office/drawing/2014/main" id="{B6CF96A1-E155-92C6-DEDF-C28CB9F4B184}"/>
              </a:ext>
            </a:extLst>
          </p:cNvPr>
          <p:cNvPicPr>
            <a:picLocks noChangeAspect="1"/>
          </p:cNvPicPr>
          <p:nvPr/>
        </p:nvPicPr>
        <p:blipFill>
          <a:blip r:embed="rId3"/>
          <a:stretch>
            <a:fillRect/>
          </a:stretch>
        </p:blipFill>
        <p:spPr>
          <a:xfrm>
            <a:off x="4350727" y="2295603"/>
            <a:ext cx="3622199" cy="4404884"/>
          </a:xfrm>
          <a:prstGeom prst="rect">
            <a:avLst/>
          </a:prstGeom>
        </p:spPr>
      </p:pic>
      <p:pic>
        <p:nvPicPr>
          <p:cNvPr id="12" name="Imagen 11">
            <a:extLst>
              <a:ext uri="{FF2B5EF4-FFF2-40B4-BE49-F238E27FC236}">
                <a16:creationId xmlns:a16="http://schemas.microsoft.com/office/drawing/2014/main" id="{47FFCB47-4F7A-99A6-E9CB-6F77A1F71443}"/>
              </a:ext>
            </a:extLst>
          </p:cNvPr>
          <p:cNvPicPr>
            <a:picLocks noChangeAspect="1"/>
          </p:cNvPicPr>
          <p:nvPr/>
        </p:nvPicPr>
        <p:blipFill>
          <a:blip r:embed="rId4"/>
          <a:stretch>
            <a:fillRect/>
          </a:stretch>
        </p:blipFill>
        <p:spPr>
          <a:xfrm>
            <a:off x="8252427" y="2295603"/>
            <a:ext cx="3775223" cy="4404884"/>
          </a:xfrm>
          <a:prstGeom prst="rect">
            <a:avLst/>
          </a:prstGeom>
        </p:spPr>
      </p:pic>
    </p:spTree>
    <p:extLst>
      <p:ext uri="{BB962C8B-B14F-4D97-AF65-F5344CB8AC3E}">
        <p14:creationId xmlns:p14="http://schemas.microsoft.com/office/powerpoint/2010/main" val="29222481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5DB95-C8FE-BD8C-C671-73E3ED05DEEE}"/>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E2F9FC58-62EF-BEAE-94E4-B7A6088035A5}"/>
              </a:ext>
            </a:extLst>
          </p:cNvPr>
          <p:cNvSpPr txBox="1"/>
          <p:nvPr/>
        </p:nvSpPr>
        <p:spPr>
          <a:xfrm>
            <a:off x="154365" y="182317"/>
            <a:ext cx="11873285" cy="1815882"/>
          </a:xfrm>
          <a:prstGeom prst="rect">
            <a:avLst/>
          </a:prstGeom>
          <a:noFill/>
        </p:spPr>
        <p:txBody>
          <a:bodyPr wrap="square">
            <a:spAutoFit/>
          </a:bodyPr>
          <a:lstStyle/>
          <a:p>
            <a:pPr lvl="0" algn="just">
              <a:lnSpc>
                <a:spcPct val="100000"/>
              </a:lnSpc>
              <a:spcAft>
                <a:spcPts val="800"/>
              </a:spcAft>
            </a:pPr>
            <a:r>
              <a:rPr lang="es-MX" sz="1600" kern="100" dirty="0">
                <a:ea typeface="Calibri" panose="020F0502020204030204" pitchFamily="34" charset="0"/>
                <a:cs typeface="Times New Roman" panose="02020603050405020304" pitchFamily="18" charset="0"/>
              </a:rPr>
              <a:t>2. </a:t>
            </a:r>
            <a:r>
              <a:rPr lang="es-MX" sz="1600" kern="100" dirty="0">
                <a:effectLst/>
                <a:latin typeface="+mn-lt"/>
                <a:ea typeface="Calibri" panose="020F0502020204030204" pitchFamily="34" charset="0"/>
                <a:cs typeface="Times New Roman" panose="02020603050405020304" pitchFamily="18" charset="0"/>
              </a:rPr>
              <a:t>En la sesión de </a:t>
            </a:r>
            <a:r>
              <a:rPr lang="es-MX" sz="1600" b="1" kern="100" dirty="0">
                <a:effectLst/>
                <a:latin typeface="+mn-lt"/>
                <a:ea typeface="Calibri" panose="020F0502020204030204" pitchFamily="34" charset="0"/>
                <a:cs typeface="Times New Roman" panose="02020603050405020304" pitchFamily="18" charset="0"/>
              </a:rPr>
              <a:t>CLIENTE</a:t>
            </a:r>
            <a:r>
              <a:rPr lang="es-MX" sz="1600" kern="100" dirty="0">
                <a:effectLst/>
                <a:latin typeface="+mn-lt"/>
                <a:ea typeface="Calibri" panose="020F0502020204030204" pitchFamily="34" charset="0"/>
                <a:cs typeface="Times New Roman" panose="02020603050405020304" pitchFamily="18" charset="0"/>
              </a:rPr>
              <a:t>, en la parte de menú, en </a:t>
            </a:r>
            <a:r>
              <a:rPr lang="es-MX" sz="1600" b="1" kern="100" dirty="0">
                <a:effectLst/>
                <a:latin typeface="+mn-lt"/>
                <a:ea typeface="Calibri" panose="020F0502020204030204" pitchFamily="34" charset="0"/>
                <a:cs typeface="Times New Roman" panose="02020603050405020304" pitchFamily="18" charset="0"/>
              </a:rPr>
              <a:t>INICIO</a:t>
            </a:r>
            <a:r>
              <a:rPr lang="es-MX" sz="1600" kern="100" dirty="0">
                <a:effectLst/>
                <a:latin typeface="+mn-lt"/>
                <a:ea typeface="Calibri" panose="020F0502020204030204" pitchFamily="34" charset="0"/>
                <a:cs typeface="Times New Roman" panose="02020603050405020304" pitchFamily="18" charset="0"/>
              </a:rPr>
              <a:t>, podrá visualizar  un mensaje de bienvenida indicando su nombre de cliente, la fecha y hora en tiempo real, un eslogan colocado por El </a:t>
            </a:r>
            <a:r>
              <a:rPr lang="es-MX" sz="1600" b="1" kern="100" dirty="0">
                <a:effectLst/>
                <a:latin typeface="+mn-lt"/>
                <a:ea typeface="Calibri" panose="020F0502020204030204" pitchFamily="34" charset="0"/>
                <a:cs typeface="Times New Roman" panose="02020603050405020304" pitchFamily="18" charset="0"/>
              </a:rPr>
              <a:t>OPERADOR PRINCIPAL DE PERÚ</a:t>
            </a:r>
            <a:r>
              <a:rPr lang="es-MX" sz="1600" kern="100" dirty="0">
                <a:effectLst/>
                <a:latin typeface="+mn-lt"/>
                <a:ea typeface="Calibri" panose="020F0502020204030204" pitchFamily="34" charset="0"/>
                <a:cs typeface="Times New Roman" panose="02020603050405020304" pitchFamily="18" charset="0"/>
              </a:rPr>
              <a:t>, Horario de atención, Tasa del día (Soles → Bolívares) fijado por los Operadores de Perú sea el caso, las BCV — USD / EUR actualizados día a día en tiempo real, Nueva solicitud para introducir el monto en Soles en </a:t>
            </a:r>
            <a:r>
              <a:rPr lang="es-MX" sz="1600" kern="100" dirty="0" err="1">
                <a:effectLst/>
                <a:latin typeface="+mn-lt"/>
                <a:ea typeface="Calibri" panose="020F0502020204030204" pitchFamily="34" charset="0"/>
                <a:cs typeface="Times New Roman" panose="02020603050405020304" pitchFamily="18" charset="0"/>
              </a:rPr>
              <a:t>ó</a:t>
            </a:r>
            <a:r>
              <a:rPr lang="es-MX" sz="1600" kern="100" dirty="0">
                <a:effectLst/>
                <a:latin typeface="+mn-lt"/>
                <a:ea typeface="Calibri" panose="020F0502020204030204" pitchFamily="34" charset="0"/>
                <a:cs typeface="Times New Roman" panose="02020603050405020304" pitchFamily="18" charset="0"/>
              </a:rPr>
              <a:t> usar la calculadora  USD / EUR donde le mostrará el monto en VES que será transferido a su beneficiario en Venezuela, los datos de su beneficiario (nombre completo, telf., </a:t>
            </a:r>
            <a:r>
              <a:rPr lang="es-MX" sz="1600" kern="100" dirty="0" err="1">
                <a:effectLst/>
                <a:latin typeface="+mn-lt"/>
                <a:ea typeface="Calibri" panose="020F0502020204030204" pitchFamily="34" charset="0"/>
                <a:cs typeface="Times New Roman" panose="02020603050405020304" pitchFamily="18" charset="0"/>
              </a:rPr>
              <a:t>c.i</a:t>
            </a:r>
            <a:r>
              <a:rPr lang="es-MX" sz="1600" kern="100" dirty="0">
                <a:effectLst/>
                <a:latin typeface="+mn-lt"/>
                <a:ea typeface="Calibri" panose="020F0502020204030204" pitchFamily="34" charset="0"/>
                <a:cs typeface="Times New Roman" panose="02020603050405020304" pitchFamily="18" charset="0"/>
              </a:rPr>
              <a:t>, tipo de transferencia, entidad bancaria y </a:t>
            </a:r>
            <a:r>
              <a:rPr lang="es-MX" sz="1600" kern="100" dirty="0" err="1">
                <a:effectLst/>
                <a:latin typeface="+mn-lt"/>
                <a:ea typeface="Calibri" panose="020F0502020204030204" pitchFamily="34" charset="0"/>
                <a:cs typeface="Times New Roman" panose="02020603050405020304" pitchFamily="18" charset="0"/>
              </a:rPr>
              <a:t>n°</a:t>
            </a:r>
            <a:r>
              <a:rPr lang="es-MX" sz="1600" kern="100" dirty="0">
                <a:effectLst/>
                <a:latin typeface="+mn-lt"/>
                <a:ea typeface="Calibri" panose="020F0502020204030204" pitchFamily="34" charset="0"/>
                <a:cs typeface="Times New Roman" panose="02020603050405020304" pitchFamily="18" charset="0"/>
              </a:rPr>
              <a:t> de cuenta con opción a ser guardados para posteriormente ser reusados, los Datos para pagar en Perú y la opción a carga el depósito según la forma de pago existente y enviar solicitud. </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Imagen 2">
            <a:extLst>
              <a:ext uri="{FF2B5EF4-FFF2-40B4-BE49-F238E27FC236}">
                <a16:creationId xmlns:a16="http://schemas.microsoft.com/office/drawing/2014/main" id="{D31FA8D2-991D-01DE-F178-995FADA838D9}"/>
              </a:ext>
            </a:extLst>
          </p:cNvPr>
          <p:cNvPicPr>
            <a:picLocks noChangeAspect="1"/>
          </p:cNvPicPr>
          <p:nvPr/>
        </p:nvPicPr>
        <p:blipFill>
          <a:blip r:embed="rId2"/>
          <a:srcRect t="3279" b="6665"/>
          <a:stretch>
            <a:fillRect/>
          </a:stretch>
        </p:blipFill>
        <p:spPr>
          <a:xfrm>
            <a:off x="3879181" y="2213642"/>
            <a:ext cx="3596439" cy="4486786"/>
          </a:xfrm>
          <a:prstGeom prst="rect">
            <a:avLst/>
          </a:prstGeom>
        </p:spPr>
      </p:pic>
    </p:spTree>
    <p:extLst>
      <p:ext uri="{BB962C8B-B14F-4D97-AF65-F5344CB8AC3E}">
        <p14:creationId xmlns:p14="http://schemas.microsoft.com/office/powerpoint/2010/main" val="36075573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ACEF1-FF43-2BC4-D798-CBDCBCDB68A6}"/>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52EFF61A-5369-3B54-34C0-2800FADB0E88}"/>
              </a:ext>
            </a:extLst>
          </p:cNvPr>
          <p:cNvPicPr>
            <a:picLocks noChangeAspect="1"/>
          </p:cNvPicPr>
          <p:nvPr/>
        </p:nvPicPr>
        <p:blipFill>
          <a:blip r:embed="rId2"/>
          <a:stretch>
            <a:fillRect/>
          </a:stretch>
        </p:blipFill>
        <p:spPr>
          <a:xfrm>
            <a:off x="1116168" y="1786764"/>
            <a:ext cx="4896533" cy="4872183"/>
          </a:xfrm>
          <a:prstGeom prst="rect">
            <a:avLst/>
          </a:prstGeom>
        </p:spPr>
      </p:pic>
      <p:pic>
        <p:nvPicPr>
          <p:cNvPr id="18" name="Imagen 17">
            <a:extLst>
              <a:ext uri="{FF2B5EF4-FFF2-40B4-BE49-F238E27FC236}">
                <a16:creationId xmlns:a16="http://schemas.microsoft.com/office/drawing/2014/main" id="{923FE994-9D47-EDD1-4FC3-8724C297831D}"/>
              </a:ext>
            </a:extLst>
          </p:cNvPr>
          <p:cNvPicPr>
            <a:picLocks noChangeAspect="1"/>
          </p:cNvPicPr>
          <p:nvPr/>
        </p:nvPicPr>
        <p:blipFill>
          <a:blip r:embed="rId3"/>
          <a:stretch>
            <a:fillRect/>
          </a:stretch>
        </p:blipFill>
        <p:spPr>
          <a:xfrm>
            <a:off x="6255509" y="1758024"/>
            <a:ext cx="4820323" cy="4900923"/>
          </a:xfrm>
          <a:prstGeom prst="rect">
            <a:avLst/>
          </a:prstGeom>
        </p:spPr>
      </p:pic>
      <p:sp>
        <p:nvSpPr>
          <p:cNvPr id="20" name="CuadroTexto 19">
            <a:extLst>
              <a:ext uri="{FF2B5EF4-FFF2-40B4-BE49-F238E27FC236}">
                <a16:creationId xmlns:a16="http://schemas.microsoft.com/office/drawing/2014/main" id="{5D02E78A-E010-74F7-5391-53EE605C7619}"/>
              </a:ext>
            </a:extLst>
          </p:cNvPr>
          <p:cNvSpPr txBox="1"/>
          <p:nvPr/>
        </p:nvSpPr>
        <p:spPr>
          <a:xfrm>
            <a:off x="208546" y="199053"/>
            <a:ext cx="11608309" cy="1323439"/>
          </a:xfrm>
          <a:prstGeom prst="rect">
            <a:avLst/>
          </a:prstGeom>
          <a:noFill/>
        </p:spPr>
        <p:txBody>
          <a:bodyPr wrap="square">
            <a:spAutoFit/>
          </a:bodyPr>
          <a:lstStyle/>
          <a:p>
            <a:pPr lvl="0" algn="just">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3. En la sesión de </a:t>
            </a:r>
            <a:r>
              <a:rPr lang="es-MX" sz="1600" b="1" kern="100" dirty="0">
                <a:effectLst/>
                <a:latin typeface="+mn-lt"/>
                <a:ea typeface="Calibri" panose="020F0502020204030204" pitchFamily="34" charset="0"/>
                <a:cs typeface="Times New Roman" panose="02020603050405020304" pitchFamily="18" charset="0"/>
              </a:rPr>
              <a:t>CLIENTE</a:t>
            </a:r>
            <a:r>
              <a:rPr lang="es-MX" sz="1600" kern="100" dirty="0">
                <a:effectLst/>
                <a:latin typeface="+mn-lt"/>
                <a:ea typeface="Calibri" panose="020F0502020204030204" pitchFamily="34" charset="0"/>
                <a:cs typeface="Times New Roman" panose="02020603050405020304" pitchFamily="18" charset="0"/>
              </a:rPr>
              <a:t>, en la parte de menú, en </a:t>
            </a:r>
            <a:r>
              <a:rPr lang="es-MX" sz="1600" b="1" kern="100" dirty="0">
                <a:effectLst/>
                <a:latin typeface="+mn-lt"/>
                <a:ea typeface="Calibri" panose="020F0502020204030204" pitchFamily="34" charset="0"/>
                <a:cs typeface="Times New Roman" panose="02020603050405020304" pitchFamily="18" charset="0"/>
              </a:rPr>
              <a:t>SOLICITUDES</a:t>
            </a:r>
            <a:r>
              <a:rPr lang="es-MX" sz="1600" kern="100" dirty="0">
                <a:effectLst/>
                <a:latin typeface="+mn-lt"/>
                <a:ea typeface="Calibri" panose="020F0502020204030204" pitchFamily="34" charset="0"/>
                <a:cs typeface="Times New Roman" panose="02020603050405020304" pitchFamily="18" charset="0"/>
              </a:rPr>
              <a:t>, podrá visualizar las operaciones en curso y las realizadas en el día con todos sus datos (fecha y hora de Generada y atendida, Operador de Perú asignado y su C</a:t>
            </a:r>
            <a:r>
              <a:rPr lang="es-MX" sz="1600" b="1" kern="100" dirty="0">
                <a:effectLst/>
                <a:latin typeface="+mn-lt"/>
                <a:ea typeface="Calibri" panose="020F0502020204030204" pitchFamily="34" charset="0"/>
                <a:cs typeface="Times New Roman" panose="02020603050405020304" pitchFamily="18" charset="0"/>
              </a:rPr>
              <a:t>ontactar por WhatsApp, </a:t>
            </a:r>
            <a:r>
              <a:rPr lang="es-MX" sz="1600" kern="100" dirty="0">
                <a:effectLst/>
                <a:latin typeface="+mn-lt"/>
                <a:ea typeface="Calibri" panose="020F0502020204030204" pitchFamily="34" charset="0"/>
                <a:cs typeface="Times New Roman" panose="02020603050405020304" pitchFamily="18" charset="0"/>
              </a:rPr>
              <a:t>C.I, Teléfono beneficiario, Tipo de transferencia, Entidad bancaria, </a:t>
            </a:r>
            <a:r>
              <a:rPr lang="es-MX" sz="1600" kern="100" dirty="0" err="1">
                <a:effectLst/>
                <a:latin typeface="+mn-lt"/>
                <a:ea typeface="Calibri" panose="020F0502020204030204" pitchFamily="34" charset="0"/>
                <a:cs typeface="Times New Roman" panose="02020603050405020304" pitchFamily="18" charset="0"/>
              </a:rPr>
              <a:t>N°</a:t>
            </a:r>
            <a:r>
              <a:rPr lang="es-MX" sz="1600" kern="100" dirty="0">
                <a:effectLst/>
                <a:latin typeface="+mn-lt"/>
                <a:ea typeface="Calibri" panose="020F0502020204030204" pitchFamily="34" charset="0"/>
                <a:cs typeface="Times New Roman" panose="02020603050405020304" pitchFamily="18" charset="0"/>
              </a:rPr>
              <a:t> cuenta, Forma de pago, Monto en VES, ≈ USD, ≈ EUR) con opción a ser guardas para ser visualizase sen la parte de Estadísticas incluyendo el estado del proceso de validación del depósito realizado en Perú por su operador.</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453494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13138-DA2D-909F-443C-D60C907057E3}"/>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6B30863-DFC8-6448-57BC-2A49DE8031F5}"/>
              </a:ext>
            </a:extLst>
          </p:cNvPr>
          <p:cNvPicPr>
            <a:picLocks noChangeAspect="1"/>
          </p:cNvPicPr>
          <p:nvPr/>
        </p:nvPicPr>
        <p:blipFill>
          <a:blip r:embed="rId2"/>
          <a:stretch>
            <a:fillRect/>
          </a:stretch>
        </p:blipFill>
        <p:spPr>
          <a:xfrm>
            <a:off x="5983704" y="332927"/>
            <a:ext cx="5967663" cy="5935471"/>
          </a:xfrm>
          <a:prstGeom prst="rect">
            <a:avLst/>
          </a:prstGeom>
        </p:spPr>
      </p:pic>
      <p:sp>
        <p:nvSpPr>
          <p:cNvPr id="5" name="CuadroTexto 4">
            <a:extLst>
              <a:ext uri="{FF2B5EF4-FFF2-40B4-BE49-F238E27FC236}">
                <a16:creationId xmlns:a16="http://schemas.microsoft.com/office/drawing/2014/main" id="{6B4CBF23-F1DA-31F0-87EE-6BB860DA8A1E}"/>
              </a:ext>
            </a:extLst>
          </p:cNvPr>
          <p:cNvSpPr txBox="1"/>
          <p:nvPr/>
        </p:nvSpPr>
        <p:spPr>
          <a:xfrm>
            <a:off x="240633" y="2391416"/>
            <a:ext cx="5566610" cy="1569660"/>
          </a:xfrm>
          <a:prstGeom prst="rect">
            <a:avLst/>
          </a:prstGeom>
          <a:noFill/>
        </p:spPr>
        <p:txBody>
          <a:bodyPr wrap="square">
            <a:spAutoFit/>
          </a:bodyPr>
          <a:lstStyle/>
          <a:p>
            <a:pPr lvl="0" algn="just">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4. En la sesión de </a:t>
            </a:r>
            <a:r>
              <a:rPr lang="es-MX" sz="1600" b="1" kern="100" dirty="0">
                <a:effectLst/>
                <a:latin typeface="+mn-lt"/>
                <a:ea typeface="Calibri" panose="020F0502020204030204" pitchFamily="34" charset="0"/>
                <a:cs typeface="Times New Roman" panose="02020603050405020304" pitchFamily="18" charset="0"/>
              </a:rPr>
              <a:t>CLIENTE</a:t>
            </a:r>
            <a:r>
              <a:rPr lang="es-MX" sz="1600" kern="100" dirty="0">
                <a:effectLst/>
                <a:latin typeface="+mn-lt"/>
                <a:ea typeface="Calibri" panose="020F0502020204030204" pitchFamily="34" charset="0"/>
                <a:cs typeface="Times New Roman" panose="02020603050405020304" pitchFamily="18" charset="0"/>
              </a:rPr>
              <a:t>, en la parte de menú, en </a:t>
            </a:r>
            <a:r>
              <a:rPr lang="es-MX" sz="1600" b="1" kern="100" dirty="0">
                <a:effectLst/>
                <a:latin typeface="+mn-lt"/>
                <a:ea typeface="Calibri" panose="020F0502020204030204" pitchFamily="34" charset="0"/>
                <a:cs typeface="Times New Roman" panose="02020603050405020304" pitchFamily="18" charset="0"/>
              </a:rPr>
              <a:t>CUENTAS, </a:t>
            </a:r>
            <a:r>
              <a:rPr lang="es-MX" sz="1600" kern="100" dirty="0">
                <a:effectLst/>
                <a:latin typeface="+mn-lt"/>
                <a:ea typeface="Calibri" panose="020F0502020204030204" pitchFamily="34" charset="0"/>
                <a:cs typeface="Times New Roman" panose="02020603050405020304" pitchFamily="18" charset="0"/>
              </a:rPr>
              <a:t>podrá visualizar los datos de su beneficiario para ser usadas posteriormente en sus próximas solicitudes y su respectiva vinculación al </a:t>
            </a:r>
            <a:r>
              <a:rPr lang="es-MX" sz="1600" kern="100" dirty="0" err="1">
                <a:effectLst/>
                <a:latin typeface="+mn-lt"/>
                <a:ea typeface="Calibri" panose="020F0502020204030204" pitchFamily="34" charset="0"/>
                <a:cs typeface="Times New Roman" panose="02020603050405020304" pitchFamily="18" charset="0"/>
              </a:rPr>
              <a:t>Telegram</a:t>
            </a:r>
            <a:r>
              <a:rPr lang="es-MX" sz="1600" kern="100" dirty="0">
                <a:effectLst/>
                <a:latin typeface="+mn-lt"/>
                <a:ea typeface="Calibri" panose="020F0502020204030204" pitchFamily="34" charset="0"/>
                <a:cs typeface="Times New Roman" panose="02020603050405020304" pitchFamily="18" charset="0"/>
              </a:rPr>
              <a:t> de su beneficiario que usa un </a:t>
            </a:r>
            <a:r>
              <a:rPr lang="es-MX" sz="1600" kern="100" dirty="0" err="1">
                <a:effectLst/>
                <a:latin typeface="+mn-lt"/>
                <a:ea typeface="Calibri" panose="020F0502020204030204" pitchFamily="34" charset="0"/>
                <a:cs typeface="Times New Roman" panose="02020603050405020304" pitchFamily="18" charset="0"/>
              </a:rPr>
              <a:t>ChatBot</a:t>
            </a:r>
            <a:r>
              <a:rPr lang="es-MX" sz="1600" kern="100" dirty="0">
                <a:effectLst/>
                <a:latin typeface="+mn-lt"/>
                <a:ea typeface="Calibri" panose="020F0502020204030204" pitchFamily="34" charset="0"/>
                <a:cs typeface="Times New Roman" panose="02020603050405020304" pitchFamily="18" charset="0"/>
              </a:rPr>
              <a:t> para su comunicación y recibir las notificaciones del depósito cargado en la cuenta del beneficiario en Venezuela.</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007645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DC607-5567-AFB4-292C-1C07CC4A94E3}"/>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84DBD904-211A-927B-A247-BDDCC860F72C}"/>
              </a:ext>
            </a:extLst>
          </p:cNvPr>
          <p:cNvPicPr>
            <a:picLocks noChangeAspect="1"/>
          </p:cNvPicPr>
          <p:nvPr/>
        </p:nvPicPr>
        <p:blipFill>
          <a:blip r:embed="rId2"/>
          <a:stretch>
            <a:fillRect/>
          </a:stretch>
        </p:blipFill>
        <p:spPr>
          <a:xfrm>
            <a:off x="932885" y="1219200"/>
            <a:ext cx="5034777" cy="5376376"/>
          </a:xfrm>
          <a:prstGeom prst="rect">
            <a:avLst/>
          </a:prstGeom>
        </p:spPr>
      </p:pic>
      <p:pic>
        <p:nvPicPr>
          <p:cNvPr id="5" name="Imagen 4">
            <a:extLst>
              <a:ext uri="{FF2B5EF4-FFF2-40B4-BE49-F238E27FC236}">
                <a16:creationId xmlns:a16="http://schemas.microsoft.com/office/drawing/2014/main" id="{48397B31-EB77-3055-9A03-30D515D51221}"/>
              </a:ext>
            </a:extLst>
          </p:cNvPr>
          <p:cNvPicPr>
            <a:picLocks noChangeAspect="1"/>
          </p:cNvPicPr>
          <p:nvPr/>
        </p:nvPicPr>
        <p:blipFill>
          <a:blip r:embed="rId3"/>
          <a:stretch>
            <a:fillRect/>
          </a:stretch>
        </p:blipFill>
        <p:spPr>
          <a:xfrm>
            <a:off x="6468670" y="1079831"/>
            <a:ext cx="4420217" cy="5515745"/>
          </a:xfrm>
          <a:prstGeom prst="rect">
            <a:avLst/>
          </a:prstGeom>
        </p:spPr>
      </p:pic>
      <p:sp>
        <p:nvSpPr>
          <p:cNvPr id="7" name="CuadroTexto 6">
            <a:extLst>
              <a:ext uri="{FF2B5EF4-FFF2-40B4-BE49-F238E27FC236}">
                <a16:creationId xmlns:a16="http://schemas.microsoft.com/office/drawing/2014/main" id="{0E1C4016-E276-2958-A0AC-6079518B65A9}"/>
              </a:ext>
            </a:extLst>
          </p:cNvPr>
          <p:cNvSpPr txBox="1"/>
          <p:nvPr/>
        </p:nvSpPr>
        <p:spPr>
          <a:xfrm>
            <a:off x="208547" y="262424"/>
            <a:ext cx="11774905" cy="584775"/>
          </a:xfrm>
          <a:prstGeom prst="rect">
            <a:avLst/>
          </a:prstGeom>
          <a:noFill/>
        </p:spPr>
        <p:txBody>
          <a:bodyPr wrap="square">
            <a:spAutoFit/>
          </a:bodyPr>
          <a:lstStyle/>
          <a:p>
            <a:pPr lvl="0" algn="just">
              <a:lnSpc>
                <a:spcPct val="100000"/>
              </a:lnSpc>
              <a:spcAft>
                <a:spcPts val="800"/>
              </a:spcAft>
            </a:pPr>
            <a:r>
              <a:rPr lang="es-MX" sz="1600" kern="100" dirty="0">
                <a:effectLst/>
                <a:latin typeface="+mn-lt"/>
                <a:ea typeface="Calibri" panose="020F0502020204030204" pitchFamily="34" charset="0"/>
                <a:cs typeface="Times New Roman" panose="02020603050405020304" pitchFamily="18" charset="0"/>
              </a:rPr>
              <a:t>5. En la sesión de </a:t>
            </a:r>
            <a:r>
              <a:rPr lang="es-MX" sz="1600" b="1" kern="100" dirty="0">
                <a:effectLst/>
                <a:latin typeface="+mn-lt"/>
                <a:ea typeface="Calibri" panose="020F0502020204030204" pitchFamily="34" charset="0"/>
                <a:cs typeface="Times New Roman" panose="02020603050405020304" pitchFamily="18" charset="0"/>
              </a:rPr>
              <a:t>CLIENTE</a:t>
            </a:r>
            <a:r>
              <a:rPr lang="es-MX" sz="1600" kern="100" dirty="0">
                <a:effectLst/>
                <a:latin typeface="+mn-lt"/>
                <a:ea typeface="Calibri" panose="020F0502020204030204" pitchFamily="34" charset="0"/>
                <a:cs typeface="Times New Roman" panose="02020603050405020304" pitchFamily="18" charset="0"/>
              </a:rPr>
              <a:t>, en la parte de menú, en </a:t>
            </a:r>
            <a:r>
              <a:rPr lang="es-MX" sz="1600" b="1" kern="100" dirty="0">
                <a:effectLst/>
                <a:latin typeface="+mn-lt"/>
                <a:ea typeface="Calibri" panose="020F0502020204030204" pitchFamily="34" charset="0"/>
                <a:cs typeface="Times New Roman" panose="02020603050405020304" pitchFamily="18" charset="0"/>
              </a:rPr>
              <a:t>ESTADISTICAS, </a:t>
            </a:r>
            <a:r>
              <a:rPr lang="es-MX" sz="1600" kern="100" dirty="0">
                <a:effectLst/>
                <a:latin typeface="+mn-lt"/>
                <a:ea typeface="Calibri" panose="020F0502020204030204" pitchFamily="34" charset="0"/>
                <a:cs typeface="Times New Roman" panose="02020603050405020304" pitchFamily="18" charset="0"/>
              </a:rPr>
              <a:t>podrá visualizar el registro de todas sus solicitudes incluyendo las del día o aplicando el filtro que requiera incluyendo gráficos de barra, circular </a:t>
            </a:r>
            <a:r>
              <a:rPr lang="es-MX" sz="1600" kern="100" dirty="0" err="1">
                <a:effectLst/>
                <a:latin typeface="+mn-lt"/>
                <a:ea typeface="Calibri" panose="020F0502020204030204" pitchFamily="34" charset="0"/>
                <a:cs typeface="Times New Roman" panose="02020603050405020304" pitchFamily="18" charset="0"/>
              </a:rPr>
              <a:t>ó</a:t>
            </a:r>
            <a:r>
              <a:rPr lang="es-MX" sz="1600" kern="100" dirty="0">
                <a:effectLst/>
                <a:latin typeface="+mn-lt"/>
                <a:ea typeface="Calibri" panose="020F0502020204030204" pitchFamily="34" charset="0"/>
                <a:cs typeface="Times New Roman" panose="02020603050405020304" pitchFamily="18" charset="0"/>
              </a:rPr>
              <a:t> línea incluyendo su descarga en Excel o </a:t>
            </a:r>
            <a:r>
              <a:rPr lang="es-MX" sz="1600" kern="100" dirty="0" err="1">
                <a:effectLst/>
                <a:latin typeface="+mn-lt"/>
                <a:ea typeface="Calibri" panose="020F0502020204030204" pitchFamily="34" charset="0"/>
                <a:cs typeface="Times New Roman" panose="02020603050405020304" pitchFamily="18" charset="0"/>
              </a:rPr>
              <a:t>pdf</a:t>
            </a:r>
            <a:r>
              <a:rPr lang="es-MX" sz="1600" kern="100" dirty="0">
                <a:effectLst/>
                <a:latin typeface="+mn-lt"/>
                <a:ea typeface="Calibri" panose="020F0502020204030204" pitchFamily="34" charset="0"/>
                <a:cs typeface="Times New Roman" panose="02020603050405020304" pitchFamily="18" charset="0"/>
              </a:rPr>
              <a:t>.</a:t>
            </a:r>
            <a:endParaRPr lang="es-MX"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31086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14067-4CFA-BCE1-1B0B-074F5D9BB1F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ACDEE4E0-8259-EE6C-5B07-80941B03D849}"/>
              </a:ext>
            </a:extLst>
          </p:cNvPr>
          <p:cNvPicPr>
            <a:picLocks noChangeAspect="1"/>
          </p:cNvPicPr>
          <p:nvPr/>
        </p:nvPicPr>
        <p:blipFill>
          <a:blip r:embed="rId2"/>
          <a:stretch>
            <a:fillRect/>
          </a:stretch>
        </p:blipFill>
        <p:spPr>
          <a:xfrm>
            <a:off x="1291114" y="1523999"/>
            <a:ext cx="4371750" cy="5177975"/>
          </a:xfrm>
          <a:prstGeom prst="rect">
            <a:avLst/>
          </a:prstGeom>
        </p:spPr>
      </p:pic>
      <p:sp>
        <p:nvSpPr>
          <p:cNvPr id="5" name="CuadroTexto 4">
            <a:extLst>
              <a:ext uri="{FF2B5EF4-FFF2-40B4-BE49-F238E27FC236}">
                <a16:creationId xmlns:a16="http://schemas.microsoft.com/office/drawing/2014/main" id="{17CB6717-4839-2182-4BB6-8984D5F302DC}"/>
              </a:ext>
            </a:extLst>
          </p:cNvPr>
          <p:cNvSpPr txBox="1"/>
          <p:nvPr/>
        </p:nvSpPr>
        <p:spPr>
          <a:xfrm>
            <a:off x="240632" y="156026"/>
            <a:ext cx="11678652" cy="1200329"/>
          </a:xfrm>
          <a:prstGeom prst="rect">
            <a:avLst/>
          </a:prstGeom>
          <a:noFill/>
        </p:spPr>
        <p:txBody>
          <a:bodyPr wrap="square">
            <a:spAutoFit/>
          </a:bodyPr>
          <a:lstStyle/>
          <a:p>
            <a:pPr lvl="0" algn="just">
              <a:lnSpc>
                <a:spcPct val="100000"/>
              </a:lnSpc>
              <a:spcAft>
                <a:spcPts val="800"/>
              </a:spcAft>
              <a:buSzPts val="1100"/>
            </a:pPr>
            <a:r>
              <a:rPr lang="es-MX" sz="1800" kern="100" dirty="0">
                <a:effectLst/>
                <a:latin typeface="+mn-lt"/>
                <a:ea typeface="Calibri" panose="020F0502020204030204" pitchFamily="34" charset="0"/>
                <a:cs typeface="Times New Roman" panose="02020603050405020304" pitchFamily="18" charset="0"/>
              </a:rPr>
              <a:t>6. En la sesión de </a:t>
            </a:r>
            <a:r>
              <a:rPr lang="es-MX" sz="1800" b="1" kern="100" dirty="0">
                <a:effectLst/>
                <a:latin typeface="+mn-lt"/>
                <a:ea typeface="Calibri" panose="020F0502020204030204" pitchFamily="34" charset="0"/>
                <a:cs typeface="Times New Roman" panose="02020603050405020304" pitchFamily="18" charset="0"/>
              </a:rPr>
              <a:t>CLIENTE</a:t>
            </a:r>
            <a:r>
              <a:rPr lang="es-MX" sz="1800" kern="100" dirty="0">
                <a:effectLst/>
                <a:latin typeface="+mn-lt"/>
                <a:ea typeface="Calibri" panose="020F0502020204030204" pitchFamily="34" charset="0"/>
                <a:cs typeface="Times New Roman" panose="02020603050405020304" pitchFamily="18" charset="0"/>
              </a:rPr>
              <a:t>, en la parte de menú, en </a:t>
            </a:r>
            <a:r>
              <a:rPr lang="es-MX" sz="1800" b="1" kern="100" dirty="0">
                <a:effectLst/>
                <a:latin typeface="+mn-lt"/>
                <a:ea typeface="Calibri" panose="020F0502020204030204" pitchFamily="34" charset="0"/>
                <a:cs typeface="Times New Roman" panose="02020603050405020304" pitchFamily="18" charset="0"/>
              </a:rPr>
              <a:t>PERFIL, </a:t>
            </a:r>
            <a:r>
              <a:rPr lang="es-MX" sz="1800" kern="100" dirty="0">
                <a:effectLst/>
                <a:latin typeface="+mn-lt"/>
                <a:ea typeface="Calibri" panose="020F0502020204030204" pitchFamily="34" charset="0"/>
                <a:cs typeface="Times New Roman" panose="02020603050405020304" pitchFamily="18" charset="0"/>
              </a:rPr>
              <a:t>podrá visualizar sus datos de cliente (nombre, correo y telf.) con opción a ser editados, los datos de su operador en Perú, las app donde prefiere recibir el aviso de tus depósitos y  e </a:t>
            </a:r>
            <a:r>
              <a:rPr lang="es-MX" sz="1800" kern="100" dirty="0" err="1">
                <a:effectLst/>
                <a:latin typeface="+mn-lt"/>
                <a:ea typeface="Calibri" panose="020F0502020204030204" pitchFamily="34" charset="0"/>
                <a:cs typeface="Times New Roman" panose="02020603050405020304" pitchFamily="18" charset="0"/>
              </a:rPr>
              <a:t>info</a:t>
            </a:r>
            <a:r>
              <a:rPr lang="es-MX" sz="1800" kern="100" dirty="0">
                <a:effectLst/>
                <a:latin typeface="+mn-lt"/>
                <a:ea typeface="Calibri" panose="020F0502020204030204" pitchFamily="34" charset="0"/>
                <a:cs typeface="Times New Roman" panose="02020603050405020304" pitchFamily="18" charset="0"/>
              </a:rPr>
              <a:t> para Instalar la app en el celular y verlo con un botón de acceso directo en el móvil con opción a enviar por WhatsApp (</a:t>
            </a:r>
            <a:r>
              <a:rPr lang="es-MX" sz="1800" kern="100" dirty="0" err="1">
                <a:effectLst/>
                <a:latin typeface="+mn-lt"/>
                <a:ea typeface="Calibri" panose="020F0502020204030204" pitchFamily="34" charset="0"/>
                <a:cs typeface="Times New Roman" panose="02020603050405020304" pitchFamily="18" charset="0"/>
              </a:rPr>
              <a:t>wa.me</a:t>
            </a:r>
            <a:r>
              <a:rPr lang="es-MX" sz="1800" kern="100" dirty="0">
                <a:effectLst/>
                <a:latin typeface="+mn-lt"/>
                <a:ea typeface="Calibri" panose="020F0502020204030204" pitchFamily="34" charset="0"/>
                <a:cs typeface="Times New Roman" panose="02020603050405020304" pitchFamily="18" charset="0"/>
              </a:rPr>
              <a:t>)/</a:t>
            </a:r>
            <a:r>
              <a:rPr lang="es-MX" sz="1800" kern="100" dirty="0" err="1">
                <a:effectLst/>
                <a:latin typeface="+mn-lt"/>
                <a:ea typeface="Calibri" panose="020F0502020204030204" pitchFamily="34" charset="0"/>
                <a:cs typeface="Times New Roman" panose="02020603050405020304" pitchFamily="18" charset="0"/>
              </a:rPr>
              <a:t>Telegram</a:t>
            </a:r>
            <a:r>
              <a:rPr lang="es-MX" sz="1800" kern="100" dirty="0">
                <a:effectLst/>
                <a:latin typeface="+mn-lt"/>
                <a:ea typeface="Calibri" panose="020F0502020204030204" pitchFamily="34" charset="0"/>
                <a:cs typeface="Times New Roman" panose="02020603050405020304" pitchFamily="18" charset="0"/>
              </a:rPr>
              <a:t> (</a:t>
            </a:r>
            <a:r>
              <a:rPr lang="es-MX" sz="1800" kern="100" dirty="0" err="1">
                <a:effectLst/>
                <a:latin typeface="+mn-lt"/>
                <a:ea typeface="Calibri" panose="020F0502020204030204" pitchFamily="34" charset="0"/>
                <a:cs typeface="Times New Roman" panose="02020603050405020304" pitchFamily="18" charset="0"/>
              </a:rPr>
              <a:t>ChatBot</a:t>
            </a:r>
            <a:r>
              <a:rPr lang="es-MX" sz="1800" kern="100" dirty="0">
                <a:effectLst/>
                <a:latin typeface="+mn-lt"/>
                <a:ea typeface="Calibri" panose="020F0502020204030204" pitchFamily="34" charset="0"/>
                <a:cs typeface="Times New Roman" panose="02020603050405020304" pitchFamily="18" charset="0"/>
              </a:rPr>
              <a:t>) al cliente.</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n 6">
            <a:extLst>
              <a:ext uri="{FF2B5EF4-FFF2-40B4-BE49-F238E27FC236}">
                <a16:creationId xmlns:a16="http://schemas.microsoft.com/office/drawing/2014/main" id="{1DDAA7AE-7710-8979-0481-0ECD18958D2C}"/>
              </a:ext>
            </a:extLst>
          </p:cNvPr>
          <p:cNvPicPr>
            <a:picLocks noChangeAspect="1"/>
          </p:cNvPicPr>
          <p:nvPr/>
        </p:nvPicPr>
        <p:blipFill>
          <a:blip r:embed="rId3"/>
          <a:stretch>
            <a:fillRect/>
          </a:stretch>
        </p:blipFill>
        <p:spPr>
          <a:xfrm>
            <a:off x="5938560" y="1523999"/>
            <a:ext cx="3972479" cy="5177975"/>
          </a:xfrm>
          <a:prstGeom prst="rect">
            <a:avLst/>
          </a:prstGeom>
        </p:spPr>
      </p:pic>
    </p:spTree>
    <p:extLst>
      <p:ext uri="{BB962C8B-B14F-4D97-AF65-F5344CB8AC3E}">
        <p14:creationId xmlns:p14="http://schemas.microsoft.com/office/powerpoint/2010/main" val="41474338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61DE9-A94E-4244-D2FA-0C52FF6BE69B}"/>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F65BF41D-24BD-1F64-9754-68E0F6AF4969}"/>
              </a:ext>
            </a:extLst>
          </p:cNvPr>
          <p:cNvSpPr txBox="1"/>
          <p:nvPr/>
        </p:nvSpPr>
        <p:spPr>
          <a:xfrm>
            <a:off x="128337" y="0"/>
            <a:ext cx="4748463" cy="6740307"/>
          </a:xfrm>
          <a:prstGeom prst="rect">
            <a:avLst/>
          </a:prstGeom>
          <a:noFill/>
        </p:spPr>
        <p:txBody>
          <a:bodyPr wrap="square">
            <a:spAutoFit/>
          </a:bodyPr>
          <a:lstStyle/>
          <a:p>
            <a:pPr marL="457200" algn="just">
              <a:lnSpc>
                <a:spcPct val="100000"/>
              </a:lnSpc>
              <a:spcAft>
                <a:spcPts val="800"/>
              </a:spcAft>
              <a:buNone/>
            </a:pPr>
            <a:r>
              <a:rPr lang="es-MX" sz="1800" kern="100" dirty="0">
                <a:effectLst/>
                <a:latin typeface="+mn-lt"/>
                <a:ea typeface="Calibri" panose="020F0502020204030204" pitchFamily="34" charset="0"/>
                <a:cs typeface="Times New Roman" panose="02020603050405020304" pitchFamily="18" charset="0"/>
              </a:rPr>
              <a:t> </a:t>
            </a:r>
          </a:p>
          <a:p>
            <a:pPr marL="457200" algn="just">
              <a:lnSpc>
                <a:spcPct val="100000"/>
              </a:lnSpc>
              <a:spcAft>
                <a:spcPts val="800"/>
              </a:spcAft>
              <a:buNone/>
            </a:pPr>
            <a:r>
              <a:rPr lang="es-MX" sz="1800" b="1" kern="100" dirty="0">
                <a:effectLst/>
                <a:latin typeface="+mn-lt"/>
                <a:ea typeface="Calibri" panose="020F0502020204030204" pitchFamily="34" charset="0"/>
                <a:cs typeface="Times New Roman" panose="02020603050405020304" pitchFamily="18" charset="0"/>
              </a:rPr>
              <a:t>FLUJO DEL PROCESO DE 4 PASOS - REMESAS PERÚ-VENEZUELA</a:t>
            </a:r>
            <a:endParaRPr lang="es-MX" sz="1800" kern="100" dirty="0">
              <a:effectLst/>
              <a:latin typeface="+mn-lt"/>
              <a:ea typeface="Calibri" panose="020F0502020204030204" pitchFamily="34" charset="0"/>
              <a:cs typeface="Times New Roman" panose="02020603050405020304" pitchFamily="18" charset="0"/>
            </a:endParaRPr>
          </a:p>
          <a:p>
            <a:pPr marL="457200" algn="just">
              <a:lnSpc>
                <a:spcPct val="100000"/>
              </a:lnSpc>
              <a:spcAft>
                <a:spcPts val="800"/>
              </a:spcAft>
              <a:buNone/>
            </a:pPr>
            <a:r>
              <a:rPr lang="es-MX" sz="1600" kern="100" dirty="0">
                <a:effectLst/>
                <a:latin typeface="+mn-lt"/>
                <a:ea typeface="Calibri" panose="020F0502020204030204" pitchFamily="34" charset="0"/>
                <a:cs typeface="Times New Roman" panose="02020603050405020304" pitchFamily="18" charset="0"/>
              </a:rPr>
              <a:t> </a:t>
            </a:r>
          </a:p>
          <a:p>
            <a:pPr lvl="0" algn="just">
              <a:lnSpc>
                <a:spcPct val="100000"/>
              </a:lnSpc>
              <a:spcAft>
                <a:spcPts val="800"/>
              </a:spcAft>
            </a:pPr>
            <a:r>
              <a:rPr lang="es-MX" sz="1400" kern="100" dirty="0">
                <a:effectLst/>
                <a:latin typeface="+mn-lt"/>
                <a:ea typeface="Calibri" panose="020F0502020204030204" pitchFamily="34" charset="0"/>
                <a:cs typeface="Times New Roman" panose="02020603050405020304" pitchFamily="18" charset="0"/>
              </a:rPr>
              <a:t>1. El </a:t>
            </a:r>
            <a:r>
              <a:rPr lang="es-MX" sz="1400" b="1" kern="100" dirty="0">
                <a:effectLst/>
                <a:latin typeface="+mn-lt"/>
                <a:ea typeface="Calibri" panose="020F0502020204030204" pitchFamily="34" charset="0"/>
                <a:cs typeface="Times New Roman" panose="02020603050405020304" pitchFamily="18" charset="0"/>
              </a:rPr>
              <a:t>CLIENTE</a:t>
            </a:r>
            <a:r>
              <a:rPr lang="es-MX" sz="1400" kern="100" dirty="0">
                <a:effectLst/>
                <a:latin typeface="+mn-lt"/>
                <a:ea typeface="Calibri" panose="020F0502020204030204" pitchFamily="34" charset="0"/>
                <a:cs typeface="Times New Roman" panose="02020603050405020304" pitchFamily="18" charset="0"/>
              </a:rPr>
              <a:t> en Perú una vez registrado realiza su solicitud.</a:t>
            </a:r>
          </a:p>
          <a:p>
            <a:pPr lvl="0" algn="just">
              <a:lnSpc>
                <a:spcPct val="100000"/>
              </a:lnSpc>
              <a:spcAft>
                <a:spcPts val="800"/>
              </a:spcAft>
            </a:pPr>
            <a:r>
              <a:rPr lang="es-MX" sz="1400" kern="100" dirty="0">
                <a:effectLst/>
                <a:latin typeface="+mn-lt"/>
                <a:ea typeface="Calibri" panose="020F0502020204030204" pitchFamily="34" charset="0"/>
                <a:cs typeface="Times New Roman" panose="02020603050405020304" pitchFamily="18" charset="0"/>
              </a:rPr>
              <a:t>2. El </a:t>
            </a:r>
            <a:r>
              <a:rPr lang="es-MX" sz="1400" b="1" kern="100" dirty="0">
                <a:effectLst/>
                <a:latin typeface="+mn-lt"/>
                <a:ea typeface="Calibri" panose="020F0502020204030204" pitchFamily="34" charset="0"/>
                <a:cs typeface="Times New Roman" panose="02020603050405020304" pitchFamily="18" charset="0"/>
              </a:rPr>
              <a:t>OPERADOR PRINCIPAL DE PERÚ </a:t>
            </a:r>
            <a:r>
              <a:rPr lang="es-MX" sz="1400" b="1" kern="100" dirty="0" err="1">
                <a:effectLst/>
                <a:latin typeface="+mn-lt"/>
                <a:ea typeface="Calibri" panose="020F0502020204030204" pitchFamily="34" charset="0"/>
                <a:cs typeface="Times New Roman" panose="02020603050405020304" pitchFamily="18" charset="0"/>
              </a:rPr>
              <a:t>Ó</a:t>
            </a:r>
            <a:r>
              <a:rPr lang="es-MX" sz="1400" b="1" kern="100" dirty="0">
                <a:effectLst/>
                <a:latin typeface="+mn-lt"/>
                <a:ea typeface="Calibri" panose="020F0502020204030204" pitchFamily="34" charset="0"/>
                <a:cs typeface="Times New Roman" panose="02020603050405020304" pitchFamily="18" charset="0"/>
              </a:rPr>
              <a:t> EL OPERADOR DE PERÚ </a:t>
            </a:r>
            <a:r>
              <a:rPr lang="es-MX" sz="1400" kern="100" dirty="0">
                <a:effectLst/>
                <a:latin typeface="+mn-lt"/>
                <a:ea typeface="Calibri" panose="020F0502020204030204" pitchFamily="34" charset="0"/>
                <a:cs typeface="Times New Roman" panose="02020603050405020304" pitchFamily="18" charset="0"/>
              </a:rPr>
              <a:t>recibe la solicitud visible en Panel como operación </a:t>
            </a:r>
            <a:r>
              <a:rPr lang="es-MX" sz="1400" b="1" kern="100" dirty="0">
                <a:effectLst/>
                <a:latin typeface="+mn-lt"/>
                <a:ea typeface="Calibri" panose="020F0502020204030204" pitchFamily="34" charset="0"/>
                <a:cs typeface="Times New Roman" panose="02020603050405020304" pitchFamily="18" charset="0"/>
              </a:rPr>
              <a:t>EN CURSO</a:t>
            </a:r>
            <a:r>
              <a:rPr lang="es-MX" sz="1400" kern="100" dirty="0">
                <a:effectLst/>
                <a:latin typeface="+mn-lt"/>
                <a:ea typeface="Calibri" panose="020F0502020204030204" pitchFamily="34" charset="0"/>
                <a:cs typeface="Times New Roman" panose="02020603050405020304" pitchFamily="18" charset="0"/>
              </a:rPr>
              <a:t> con su respectiva imagen del depósito en Soles y Valida su depósito en cuenta bancaria. Existe la opción que valide la trasferencia al </a:t>
            </a:r>
            <a:r>
              <a:rPr lang="es-MX" sz="1400" b="1" kern="100" dirty="0">
                <a:effectLst/>
                <a:latin typeface="+mn-lt"/>
                <a:ea typeface="Calibri" panose="020F0502020204030204" pitchFamily="34" charset="0"/>
                <a:cs typeface="Times New Roman" panose="02020603050405020304" pitchFamily="18" charset="0"/>
              </a:rPr>
              <a:t>BENEFICIARIO</a:t>
            </a:r>
            <a:r>
              <a:rPr lang="es-MX" sz="1400" kern="100" dirty="0">
                <a:effectLst/>
                <a:latin typeface="+mn-lt"/>
                <a:ea typeface="Calibri" panose="020F0502020204030204" pitchFamily="34" charset="0"/>
                <a:cs typeface="Times New Roman" panose="02020603050405020304" pitchFamily="18" charset="0"/>
              </a:rPr>
              <a:t> del cliente en Perú. Automáticamente el aplicativo envía un mensaje por </a:t>
            </a:r>
            <a:r>
              <a:rPr lang="es-MX" sz="1400" kern="100" dirty="0" err="1">
                <a:effectLst/>
                <a:latin typeface="+mn-lt"/>
                <a:ea typeface="Calibri" panose="020F0502020204030204" pitchFamily="34" charset="0"/>
                <a:cs typeface="Times New Roman" panose="02020603050405020304" pitchFamily="18" charset="0"/>
              </a:rPr>
              <a:t>Telegram</a:t>
            </a:r>
            <a:r>
              <a:rPr lang="es-MX" sz="1400" kern="100" dirty="0">
                <a:effectLst/>
                <a:latin typeface="+mn-lt"/>
                <a:ea typeface="Calibri" panose="020F0502020204030204" pitchFamily="34" charset="0"/>
                <a:cs typeface="Times New Roman" panose="02020603050405020304" pitchFamily="18" charset="0"/>
              </a:rPr>
              <a:t> (</a:t>
            </a:r>
            <a:r>
              <a:rPr lang="es-MX" sz="1400" kern="100" dirty="0" err="1">
                <a:effectLst/>
                <a:latin typeface="+mn-lt"/>
                <a:ea typeface="Calibri" panose="020F0502020204030204" pitchFamily="34" charset="0"/>
                <a:cs typeface="Times New Roman" panose="02020603050405020304" pitchFamily="18" charset="0"/>
              </a:rPr>
              <a:t>ChatBot</a:t>
            </a:r>
            <a:r>
              <a:rPr lang="es-MX" sz="1400" kern="100" dirty="0">
                <a:effectLst/>
                <a:latin typeface="+mn-lt"/>
                <a:ea typeface="Calibri" panose="020F0502020204030204" pitchFamily="34" charset="0"/>
                <a:cs typeface="Times New Roman" panose="02020603050405020304" pitchFamily="18" charset="0"/>
              </a:rPr>
              <a:t>) al cliente en Perú.</a:t>
            </a:r>
          </a:p>
          <a:p>
            <a:pPr lvl="0" algn="just">
              <a:lnSpc>
                <a:spcPct val="100000"/>
              </a:lnSpc>
              <a:spcAft>
                <a:spcPts val="800"/>
              </a:spcAft>
            </a:pPr>
            <a:r>
              <a:rPr lang="es-MX" sz="1400" kern="100" dirty="0">
                <a:effectLst/>
                <a:latin typeface="+mn-lt"/>
                <a:ea typeface="Calibri" panose="020F0502020204030204" pitchFamily="34" charset="0"/>
                <a:cs typeface="Times New Roman" panose="02020603050405020304" pitchFamily="18" charset="0"/>
              </a:rPr>
              <a:t>3. El </a:t>
            </a:r>
            <a:r>
              <a:rPr lang="es-MX" sz="1400" b="1" kern="100" dirty="0">
                <a:effectLst/>
                <a:latin typeface="+mn-lt"/>
                <a:ea typeface="Calibri" panose="020F0502020204030204" pitchFamily="34" charset="0"/>
                <a:cs typeface="Times New Roman" panose="02020603050405020304" pitchFamily="18" charset="0"/>
              </a:rPr>
              <a:t>OPERADOR DE VENEZUELA </a:t>
            </a:r>
            <a:r>
              <a:rPr lang="es-MX" sz="1400" kern="100" dirty="0">
                <a:effectLst/>
                <a:latin typeface="+mn-lt"/>
                <a:ea typeface="Calibri" panose="020F0502020204030204" pitchFamily="34" charset="0"/>
                <a:cs typeface="Times New Roman" panose="02020603050405020304" pitchFamily="18" charset="0"/>
              </a:rPr>
              <a:t>recibe la operación </a:t>
            </a:r>
            <a:r>
              <a:rPr lang="es-MX" sz="1400" b="1" kern="100" dirty="0">
                <a:effectLst/>
                <a:latin typeface="+mn-lt"/>
                <a:ea typeface="Calibri" panose="020F0502020204030204" pitchFamily="34" charset="0"/>
                <a:cs typeface="Times New Roman" panose="02020603050405020304" pitchFamily="18" charset="0"/>
              </a:rPr>
              <a:t>EN CURSO</a:t>
            </a:r>
            <a:r>
              <a:rPr lang="es-MX" sz="1400" kern="100" dirty="0">
                <a:effectLst/>
                <a:latin typeface="+mn-lt"/>
                <a:ea typeface="Calibri" panose="020F0502020204030204" pitchFamily="34" charset="0"/>
                <a:cs typeface="Times New Roman" panose="02020603050405020304" pitchFamily="18" charset="0"/>
              </a:rPr>
              <a:t> y una vez validada en Perú procede a realizar la transferencia según datos de la solicitud y la operación pasa a </a:t>
            </a:r>
            <a:r>
              <a:rPr lang="es-MX" sz="1400" b="1" kern="100" dirty="0">
                <a:effectLst/>
                <a:latin typeface="+mn-lt"/>
                <a:ea typeface="Calibri" panose="020F0502020204030204" pitchFamily="34" charset="0"/>
                <a:cs typeface="Times New Roman" panose="02020603050405020304" pitchFamily="18" charset="0"/>
              </a:rPr>
              <a:t>OPERACIÓN REALIZADA</a:t>
            </a:r>
            <a:r>
              <a:rPr lang="es-MX" sz="1400" kern="100" dirty="0">
                <a:effectLst/>
                <a:latin typeface="+mn-lt"/>
                <a:ea typeface="Calibri" panose="020F0502020204030204" pitchFamily="34" charset="0"/>
                <a:cs typeface="Times New Roman" panose="02020603050405020304" pitchFamily="18" charset="0"/>
              </a:rPr>
              <a:t> e inmediatamente los </a:t>
            </a:r>
            <a:r>
              <a:rPr lang="es-MX" sz="1400" b="1" kern="100" dirty="0">
                <a:effectLst/>
                <a:latin typeface="+mn-lt"/>
                <a:ea typeface="Calibri" panose="020F0502020204030204" pitchFamily="34" charset="0"/>
                <a:cs typeface="Times New Roman" panose="02020603050405020304" pitchFamily="18" charset="0"/>
              </a:rPr>
              <a:t>OPERADORES EN PERÚ </a:t>
            </a:r>
            <a:r>
              <a:rPr lang="es-MX" sz="1400" kern="100" dirty="0">
                <a:effectLst/>
                <a:latin typeface="+mn-lt"/>
                <a:ea typeface="Calibri" panose="020F0502020204030204" pitchFamily="34" charset="0"/>
                <a:cs typeface="Times New Roman" panose="02020603050405020304" pitchFamily="18" charset="0"/>
              </a:rPr>
              <a:t>reciben la validación y se envía un mensaje automáticamente al </a:t>
            </a:r>
            <a:r>
              <a:rPr lang="es-MX" sz="1400" kern="100" dirty="0" err="1">
                <a:effectLst/>
                <a:latin typeface="+mn-lt"/>
                <a:ea typeface="Calibri" panose="020F0502020204030204" pitchFamily="34" charset="0"/>
                <a:cs typeface="Times New Roman" panose="02020603050405020304" pitchFamily="18" charset="0"/>
              </a:rPr>
              <a:t>Telegram</a:t>
            </a:r>
            <a:r>
              <a:rPr lang="es-MX" sz="1400" kern="100" dirty="0">
                <a:effectLst/>
                <a:latin typeface="+mn-lt"/>
                <a:ea typeface="Calibri" panose="020F0502020204030204" pitchFamily="34" charset="0"/>
                <a:cs typeface="Times New Roman" panose="02020603050405020304" pitchFamily="18" charset="0"/>
              </a:rPr>
              <a:t> (</a:t>
            </a:r>
            <a:r>
              <a:rPr lang="es-MX" sz="1400" kern="100" dirty="0" err="1">
                <a:effectLst/>
                <a:latin typeface="+mn-lt"/>
                <a:ea typeface="Calibri" panose="020F0502020204030204" pitchFamily="34" charset="0"/>
                <a:cs typeface="Times New Roman" panose="02020603050405020304" pitchFamily="18" charset="0"/>
              </a:rPr>
              <a:t>ChatBot</a:t>
            </a:r>
            <a:r>
              <a:rPr lang="es-MX" sz="1400" kern="100" dirty="0">
                <a:effectLst/>
                <a:latin typeface="+mn-lt"/>
                <a:ea typeface="Calibri" panose="020F0502020204030204" pitchFamily="34" charset="0"/>
                <a:cs typeface="Times New Roman" panose="02020603050405020304" pitchFamily="18" charset="0"/>
              </a:rPr>
              <a:t>) </a:t>
            </a:r>
            <a:r>
              <a:rPr lang="es-MX" sz="1400" kern="100" dirty="0">
                <a:ea typeface="Calibri" panose="020F0502020204030204" pitchFamily="34" charset="0"/>
                <a:cs typeface="Times New Roman" panose="02020603050405020304" pitchFamily="18" charset="0"/>
              </a:rPr>
              <a:t>del</a:t>
            </a:r>
            <a:r>
              <a:rPr lang="es-MX" sz="1400" kern="100" dirty="0">
                <a:effectLst/>
                <a:latin typeface="+mn-lt"/>
                <a:ea typeface="Calibri" panose="020F0502020204030204" pitchFamily="34" charset="0"/>
                <a:cs typeface="Times New Roman" panose="02020603050405020304" pitchFamily="18" charset="0"/>
              </a:rPr>
              <a:t> </a:t>
            </a:r>
            <a:r>
              <a:rPr lang="es-MX" sz="1400" b="1" kern="100" dirty="0">
                <a:effectLst/>
                <a:latin typeface="+mn-lt"/>
                <a:ea typeface="Calibri" panose="020F0502020204030204" pitchFamily="34" charset="0"/>
                <a:cs typeface="Times New Roman" panose="02020603050405020304" pitchFamily="18" charset="0"/>
              </a:rPr>
              <a:t>BENEFICIARIO</a:t>
            </a:r>
            <a:r>
              <a:rPr lang="es-MX" sz="1400" kern="100" dirty="0">
                <a:effectLst/>
                <a:latin typeface="+mn-lt"/>
                <a:ea typeface="Calibri" panose="020F0502020204030204" pitchFamily="34" charset="0"/>
                <a:cs typeface="Times New Roman" panose="02020603050405020304" pitchFamily="18" charset="0"/>
              </a:rPr>
              <a:t> y al </a:t>
            </a:r>
            <a:r>
              <a:rPr lang="es-MX" sz="1400" b="1" kern="100" dirty="0">
                <a:effectLst/>
                <a:latin typeface="+mn-lt"/>
                <a:ea typeface="Calibri" panose="020F0502020204030204" pitchFamily="34" charset="0"/>
                <a:cs typeface="Times New Roman" panose="02020603050405020304" pitchFamily="18" charset="0"/>
              </a:rPr>
              <a:t>CLIENTE</a:t>
            </a:r>
            <a:r>
              <a:rPr lang="es-MX" sz="1400" kern="100" dirty="0">
                <a:effectLst/>
                <a:latin typeface="+mn-lt"/>
                <a:ea typeface="Calibri" panose="020F0502020204030204" pitchFamily="34" charset="0"/>
                <a:cs typeface="Times New Roman" panose="02020603050405020304" pitchFamily="18" charset="0"/>
              </a:rPr>
              <a:t> en Perú con su imagen respectiva de la transferencia.</a:t>
            </a:r>
          </a:p>
          <a:p>
            <a:pPr lvl="0" algn="just">
              <a:lnSpc>
                <a:spcPct val="100000"/>
              </a:lnSpc>
              <a:spcAft>
                <a:spcPts val="800"/>
              </a:spcAft>
            </a:pPr>
            <a:r>
              <a:rPr lang="es-MX" sz="1400" kern="100" dirty="0">
                <a:effectLst/>
                <a:latin typeface="+mn-lt"/>
                <a:ea typeface="Calibri" panose="020F0502020204030204" pitchFamily="34" charset="0"/>
                <a:cs typeface="Times New Roman" panose="02020603050405020304" pitchFamily="18" charset="0"/>
              </a:rPr>
              <a:t>4. Finalmente, el </a:t>
            </a:r>
            <a:r>
              <a:rPr lang="es-MX" sz="1400" b="1" kern="100" dirty="0">
                <a:effectLst/>
                <a:latin typeface="+mn-lt"/>
                <a:ea typeface="Calibri" panose="020F0502020204030204" pitchFamily="34" charset="0"/>
                <a:cs typeface="Times New Roman" panose="02020603050405020304" pitchFamily="18" charset="0"/>
              </a:rPr>
              <a:t>CLIENTE</a:t>
            </a:r>
            <a:r>
              <a:rPr lang="es-MX" sz="1400" kern="100" dirty="0">
                <a:effectLst/>
                <a:latin typeface="+mn-lt"/>
                <a:ea typeface="Calibri" panose="020F0502020204030204" pitchFamily="34" charset="0"/>
                <a:cs typeface="Times New Roman" panose="02020603050405020304" pitchFamily="18" charset="0"/>
              </a:rPr>
              <a:t> en Perú valida la transferencia de su </a:t>
            </a:r>
            <a:r>
              <a:rPr lang="es-MX" sz="1400" b="1" kern="100" dirty="0">
                <a:effectLst/>
                <a:latin typeface="+mn-lt"/>
                <a:ea typeface="Calibri" panose="020F0502020204030204" pitchFamily="34" charset="0"/>
                <a:cs typeface="Times New Roman" panose="02020603050405020304" pitchFamily="18" charset="0"/>
              </a:rPr>
              <a:t>BENEFICIARIO</a:t>
            </a:r>
            <a:r>
              <a:rPr lang="es-MX" sz="1400" kern="100" dirty="0">
                <a:effectLst/>
                <a:latin typeface="+mn-lt"/>
                <a:ea typeface="Calibri" panose="020F0502020204030204" pitchFamily="34" charset="0"/>
                <a:cs typeface="Times New Roman" panose="02020603050405020304" pitchFamily="18" charset="0"/>
              </a:rPr>
              <a:t> o indica que “</a:t>
            </a:r>
            <a:r>
              <a:rPr lang="es-MX" sz="1400" u="sng" kern="100" dirty="0">
                <a:solidFill>
                  <a:srgbClr val="FF0000"/>
                </a:solidFill>
                <a:effectLst/>
                <a:latin typeface="+mn-lt"/>
                <a:ea typeface="Calibri" panose="020F0502020204030204" pitchFamily="34" charset="0"/>
                <a:cs typeface="Times New Roman" panose="02020603050405020304" pitchFamily="18" charset="0"/>
              </a:rPr>
              <a:t>No ha llegado”</a:t>
            </a:r>
            <a:r>
              <a:rPr lang="es-MX" sz="1400" kern="100" dirty="0">
                <a:effectLst/>
                <a:latin typeface="+mn-lt"/>
                <a:ea typeface="Calibri" panose="020F0502020204030204" pitchFamily="34" charset="0"/>
                <a:cs typeface="Times New Roman" panose="02020603050405020304" pitchFamily="18" charset="0"/>
              </a:rPr>
              <a:t>. Si no ha llegado la transferencia, la plataforma pasa la operación al estado de </a:t>
            </a:r>
            <a:r>
              <a:rPr lang="es-MX" sz="1400" b="1" kern="100" dirty="0">
                <a:effectLst/>
                <a:latin typeface="+mn-lt"/>
                <a:ea typeface="Calibri" panose="020F0502020204030204" pitchFamily="34" charset="0"/>
                <a:cs typeface="Times New Roman" panose="02020603050405020304" pitchFamily="18" charset="0"/>
              </a:rPr>
              <a:t>POR REVISAR,</a:t>
            </a:r>
            <a:r>
              <a:rPr lang="es-MX" sz="1400" kern="100" dirty="0">
                <a:effectLst/>
                <a:latin typeface="+mn-lt"/>
                <a:ea typeface="Calibri" panose="020F0502020204030204" pitchFamily="34" charset="0"/>
                <a:cs typeface="Times New Roman" panose="02020603050405020304" pitchFamily="18" charset="0"/>
              </a:rPr>
              <a:t> donde es visualizada por los operadores </a:t>
            </a:r>
            <a:r>
              <a:rPr lang="es-MX" sz="1400" b="1" kern="100" dirty="0">
                <a:effectLst/>
                <a:latin typeface="+mn-lt"/>
                <a:ea typeface="Calibri" panose="020F0502020204030204" pitchFamily="34" charset="0"/>
                <a:cs typeface="Times New Roman" panose="02020603050405020304" pitchFamily="18" charset="0"/>
              </a:rPr>
              <a:t>PERÚ/VENEZUELA</a:t>
            </a:r>
            <a:r>
              <a:rPr lang="es-MX" sz="1400" kern="100" dirty="0">
                <a:effectLst/>
                <a:latin typeface="+mn-lt"/>
                <a:ea typeface="Calibri" panose="020F0502020204030204" pitchFamily="34" charset="0"/>
                <a:cs typeface="Times New Roman" panose="02020603050405020304" pitchFamily="18" charset="0"/>
              </a:rPr>
              <a:t> para darle atención a la operación y una vez que resuelva se podrá recargar la imagen de la transferencia y marcar como resulta y automáticamente la operación pasa a </a:t>
            </a:r>
            <a:r>
              <a:rPr lang="es-MX" sz="1400" b="1" kern="100" dirty="0">
                <a:effectLst/>
                <a:latin typeface="+mn-lt"/>
                <a:ea typeface="Calibri" panose="020F0502020204030204" pitchFamily="34" charset="0"/>
                <a:cs typeface="Times New Roman" panose="02020603050405020304" pitchFamily="18" charset="0"/>
              </a:rPr>
              <a:t>OPERACIÓN REALIAZADA.</a:t>
            </a:r>
            <a:endParaRPr lang="es-MX"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Imagen 7">
            <a:extLst>
              <a:ext uri="{FF2B5EF4-FFF2-40B4-BE49-F238E27FC236}">
                <a16:creationId xmlns:a16="http://schemas.microsoft.com/office/drawing/2014/main" id="{E3FC7C15-C75E-2F6D-DD03-2E41C291F99C}"/>
              </a:ext>
            </a:extLst>
          </p:cNvPr>
          <p:cNvPicPr>
            <a:picLocks noChangeAspect="1"/>
          </p:cNvPicPr>
          <p:nvPr/>
        </p:nvPicPr>
        <p:blipFill>
          <a:blip r:embed="rId2"/>
          <a:srcRect l="6775" t="37413" r="10259" b="35862"/>
          <a:stretch>
            <a:fillRect/>
          </a:stretch>
        </p:blipFill>
        <p:spPr>
          <a:xfrm>
            <a:off x="5117118" y="349272"/>
            <a:ext cx="2632378" cy="1331495"/>
          </a:xfrm>
          <a:prstGeom prst="rect">
            <a:avLst/>
          </a:prstGeom>
        </p:spPr>
      </p:pic>
      <p:pic>
        <p:nvPicPr>
          <p:cNvPr id="12" name="Imagen 11">
            <a:extLst>
              <a:ext uri="{FF2B5EF4-FFF2-40B4-BE49-F238E27FC236}">
                <a16:creationId xmlns:a16="http://schemas.microsoft.com/office/drawing/2014/main" id="{5D4B1FB2-1394-C02C-4510-6C772CA46EEE}"/>
              </a:ext>
            </a:extLst>
          </p:cNvPr>
          <p:cNvPicPr>
            <a:picLocks noChangeAspect="1"/>
          </p:cNvPicPr>
          <p:nvPr/>
        </p:nvPicPr>
        <p:blipFill>
          <a:blip r:embed="rId3"/>
          <a:stretch>
            <a:fillRect/>
          </a:stretch>
        </p:blipFill>
        <p:spPr>
          <a:xfrm>
            <a:off x="5076033" y="2271317"/>
            <a:ext cx="2632377" cy="2197672"/>
          </a:xfrm>
          <a:prstGeom prst="rect">
            <a:avLst/>
          </a:prstGeom>
        </p:spPr>
      </p:pic>
      <p:pic>
        <p:nvPicPr>
          <p:cNvPr id="14" name="Imagen 13">
            <a:extLst>
              <a:ext uri="{FF2B5EF4-FFF2-40B4-BE49-F238E27FC236}">
                <a16:creationId xmlns:a16="http://schemas.microsoft.com/office/drawing/2014/main" id="{3D2EA9C3-540A-5C75-21E5-5664AB07BC3C}"/>
              </a:ext>
            </a:extLst>
          </p:cNvPr>
          <p:cNvPicPr>
            <a:picLocks noChangeAspect="1"/>
          </p:cNvPicPr>
          <p:nvPr/>
        </p:nvPicPr>
        <p:blipFill>
          <a:blip r:embed="rId4"/>
          <a:stretch>
            <a:fillRect/>
          </a:stretch>
        </p:blipFill>
        <p:spPr>
          <a:xfrm>
            <a:off x="5060126" y="4542635"/>
            <a:ext cx="2632377" cy="2197672"/>
          </a:xfrm>
          <a:prstGeom prst="rect">
            <a:avLst/>
          </a:prstGeom>
        </p:spPr>
      </p:pic>
      <p:pic>
        <p:nvPicPr>
          <p:cNvPr id="16" name="Imagen 15">
            <a:extLst>
              <a:ext uri="{FF2B5EF4-FFF2-40B4-BE49-F238E27FC236}">
                <a16:creationId xmlns:a16="http://schemas.microsoft.com/office/drawing/2014/main" id="{921D2460-5798-A2B3-A8FD-60C9D6C16994}"/>
              </a:ext>
            </a:extLst>
          </p:cNvPr>
          <p:cNvPicPr>
            <a:picLocks noChangeAspect="1"/>
          </p:cNvPicPr>
          <p:nvPr/>
        </p:nvPicPr>
        <p:blipFill>
          <a:blip r:embed="rId5"/>
          <a:stretch>
            <a:fillRect/>
          </a:stretch>
        </p:blipFill>
        <p:spPr>
          <a:xfrm>
            <a:off x="7833974" y="2504133"/>
            <a:ext cx="3303590" cy="3442619"/>
          </a:xfrm>
          <a:prstGeom prst="rect">
            <a:avLst/>
          </a:prstGeom>
        </p:spPr>
      </p:pic>
      <p:pic>
        <p:nvPicPr>
          <p:cNvPr id="18" name="Imagen 17">
            <a:extLst>
              <a:ext uri="{FF2B5EF4-FFF2-40B4-BE49-F238E27FC236}">
                <a16:creationId xmlns:a16="http://schemas.microsoft.com/office/drawing/2014/main" id="{DFEB290B-8084-DCD2-45BD-FF830F6E46DD}"/>
              </a:ext>
            </a:extLst>
          </p:cNvPr>
          <p:cNvPicPr>
            <a:picLocks noChangeAspect="1"/>
          </p:cNvPicPr>
          <p:nvPr/>
        </p:nvPicPr>
        <p:blipFill>
          <a:blip r:embed="rId6"/>
          <a:stretch>
            <a:fillRect/>
          </a:stretch>
        </p:blipFill>
        <p:spPr>
          <a:xfrm>
            <a:off x="7989814" y="112831"/>
            <a:ext cx="2817038" cy="1796180"/>
          </a:xfrm>
          <a:prstGeom prst="rect">
            <a:avLst/>
          </a:prstGeom>
        </p:spPr>
      </p:pic>
      <p:sp>
        <p:nvSpPr>
          <p:cNvPr id="19" name="Cerrar llave 18">
            <a:extLst>
              <a:ext uri="{FF2B5EF4-FFF2-40B4-BE49-F238E27FC236}">
                <a16:creationId xmlns:a16="http://schemas.microsoft.com/office/drawing/2014/main" id="{4B6EB232-1A1E-050C-6B5F-F02C83FF46A1}"/>
              </a:ext>
            </a:extLst>
          </p:cNvPr>
          <p:cNvSpPr/>
          <p:nvPr/>
        </p:nvSpPr>
        <p:spPr>
          <a:xfrm>
            <a:off x="11197677" y="112831"/>
            <a:ext cx="823049" cy="1676825"/>
          </a:xfrm>
          <a:prstGeom prst="rightBrace">
            <a:avLst/>
          </a:prstGeom>
        </p:spPr>
        <p:style>
          <a:lnRef idx="1">
            <a:schemeClr val="accent1"/>
          </a:lnRef>
          <a:fillRef idx="0">
            <a:schemeClr val="accent1"/>
          </a:fillRef>
          <a:effectRef idx="0">
            <a:schemeClr val="accent1"/>
          </a:effectRef>
          <a:fontRef idx="minor">
            <a:schemeClr val="tx1"/>
          </a:fontRef>
        </p:style>
        <p:txBody>
          <a:bodyPr vert="vert270" rtlCol="0" anchor="ctr"/>
          <a:lstStyle/>
          <a:p>
            <a:pPr algn="ctr"/>
            <a:r>
              <a:rPr lang="es-MX" b="1" dirty="0"/>
              <a:t>CLIENTE</a:t>
            </a:r>
          </a:p>
        </p:txBody>
      </p:sp>
      <p:sp>
        <p:nvSpPr>
          <p:cNvPr id="21" name="Cerrar llave 20">
            <a:extLst>
              <a:ext uri="{FF2B5EF4-FFF2-40B4-BE49-F238E27FC236}">
                <a16:creationId xmlns:a16="http://schemas.microsoft.com/office/drawing/2014/main" id="{CF1388D9-A92A-EFBA-ED16-7168ADC45838}"/>
              </a:ext>
            </a:extLst>
          </p:cNvPr>
          <p:cNvSpPr/>
          <p:nvPr/>
        </p:nvSpPr>
        <p:spPr>
          <a:xfrm>
            <a:off x="11294943" y="2040478"/>
            <a:ext cx="628516" cy="4369930"/>
          </a:xfrm>
          <a:prstGeom prst="rightBrace">
            <a:avLst/>
          </a:prstGeom>
        </p:spPr>
        <p:style>
          <a:lnRef idx="1">
            <a:schemeClr val="accent1"/>
          </a:lnRef>
          <a:fillRef idx="0">
            <a:schemeClr val="accent1"/>
          </a:fillRef>
          <a:effectRef idx="0">
            <a:schemeClr val="accent1"/>
          </a:effectRef>
          <a:fontRef idx="minor">
            <a:schemeClr val="tx1"/>
          </a:fontRef>
        </p:style>
        <p:txBody>
          <a:bodyPr vert="vert270" rtlCol="0" anchor="ctr"/>
          <a:lstStyle/>
          <a:p>
            <a:pPr algn="ctr"/>
            <a:r>
              <a:rPr lang="es-MX" b="1" dirty="0"/>
              <a:t>OPERADORE S PERÚ / VENEZUELA</a:t>
            </a:r>
          </a:p>
        </p:txBody>
      </p:sp>
    </p:spTree>
    <p:extLst>
      <p:ext uri="{BB962C8B-B14F-4D97-AF65-F5344CB8AC3E}">
        <p14:creationId xmlns:p14="http://schemas.microsoft.com/office/powerpoint/2010/main" val="268736565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642</TotalTime>
  <Words>4581</Words>
  <Application>Microsoft Office PowerPoint</Application>
  <PresentationFormat>Panorámica</PresentationFormat>
  <Paragraphs>48</Paragraphs>
  <Slides>40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40</vt:i4>
      </vt:variant>
    </vt:vector>
  </HeadingPairs>
  <TitlesOfParts>
    <vt:vector size="44"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2</cp:revision>
  <dcterms:created xsi:type="dcterms:W3CDTF">2026-08-23T16:48:13Z</dcterms:created>
  <dcterms:modified xsi:type="dcterms:W3CDTF">2026-08-24T03:30:15Z</dcterms:modified>
</cp:coreProperties>
</file>